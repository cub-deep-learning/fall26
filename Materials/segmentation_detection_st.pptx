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6" r:id="rId2"/>
    <p:sldId id="275" r:id="rId3"/>
    <p:sldId id="276" r:id="rId4"/>
    <p:sldId id="274" r:id="rId5"/>
    <p:sldId id="277" r:id="rId6"/>
    <p:sldId id="297" r:id="rId7"/>
    <p:sldId id="300" r:id="rId8"/>
    <p:sldId id="298" r:id="rId9"/>
    <p:sldId id="301" r:id="rId10"/>
    <p:sldId id="278" r:id="rId11"/>
    <p:sldId id="279" r:id="rId12"/>
    <p:sldId id="280" r:id="rId13"/>
    <p:sldId id="281" r:id="rId14"/>
    <p:sldId id="299" r:id="rId15"/>
    <p:sldId id="283" r:id="rId16"/>
    <p:sldId id="286" r:id="rId17"/>
    <p:sldId id="273" r:id="rId18"/>
    <p:sldId id="258" r:id="rId19"/>
    <p:sldId id="302" r:id="rId20"/>
    <p:sldId id="303" r:id="rId21"/>
    <p:sldId id="260" r:id="rId22"/>
    <p:sldId id="261" r:id="rId23"/>
    <p:sldId id="262" r:id="rId24"/>
    <p:sldId id="263" r:id="rId25"/>
    <p:sldId id="264" r:id="rId26"/>
    <p:sldId id="267" r:id="rId27"/>
    <p:sldId id="268" r:id="rId28"/>
    <p:sldId id="266" r:id="rId29"/>
    <p:sldId id="265" r:id="rId30"/>
    <p:sldId id="270" r:id="rId31"/>
    <p:sldId id="269" r:id="rId32"/>
    <p:sldId id="287" r:id="rId33"/>
    <p:sldId id="271" r:id="rId34"/>
    <p:sldId id="284" r:id="rId35"/>
    <p:sldId id="285" r:id="rId36"/>
    <p:sldId id="288" r:id="rId37"/>
    <p:sldId id="290" r:id="rId38"/>
    <p:sldId id="291" r:id="rId39"/>
    <p:sldId id="292" r:id="rId40"/>
    <p:sldId id="293" r:id="rId41"/>
    <p:sldId id="294" r:id="rId42"/>
    <p:sldId id="295" r:id="rId43"/>
    <p:sldId id="296" r:id="rId4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9A202F-4299-479C-B15E-F143261314E2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F2C122-6047-4DF2-B658-83EED2B0EF1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163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345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F2C122-6047-4DF2-B658-83EED2B0EF10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5725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1707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694527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9410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89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7192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5444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178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1515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15580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2651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0110C-44BF-413A-8FA8-51FBC9510905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976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C0110C-44BF-413A-8FA8-51FBC9510905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6F2DD-97A6-4ADB-A4AD-00C5B7798F0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31356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mp"/><Relationship Id="rId2" Type="http://schemas.openxmlformats.org/officeDocument/2006/relationships/image" Target="../media/image1.tmp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m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tmp"/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istill.pub/2016/deconv-checkerboard/" TargetMode="External"/><Relationship Id="rId3" Type="http://schemas.openxmlformats.org/officeDocument/2006/relationships/image" Target="../media/image10.tmp"/><Relationship Id="rId7" Type="http://schemas.openxmlformats.org/officeDocument/2006/relationships/image" Target="../media/image14.tmp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tmp"/><Relationship Id="rId5" Type="http://schemas.openxmlformats.org/officeDocument/2006/relationships/image" Target="../media/image12.tmp"/><Relationship Id="rId4" Type="http://schemas.openxmlformats.org/officeDocument/2006/relationships/image" Target="../media/image11.tm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tmp"/><Relationship Id="rId5" Type="http://schemas.openxmlformats.org/officeDocument/2006/relationships/image" Target="../media/image18.tmp"/><Relationship Id="rId4" Type="http://schemas.openxmlformats.org/officeDocument/2006/relationships/image" Target="../media/image17.tm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mp"/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tmp"/><Relationship Id="rId5" Type="http://schemas.openxmlformats.org/officeDocument/2006/relationships/image" Target="../media/image23.tmp"/><Relationship Id="rId4" Type="http://schemas.openxmlformats.org/officeDocument/2006/relationships/image" Target="../media/image22.tm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tmp"/><Relationship Id="rId2" Type="http://schemas.openxmlformats.org/officeDocument/2006/relationships/image" Target="../media/image25.tmp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tmp"/><Relationship Id="rId5" Type="http://schemas.openxmlformats.org/officeDocument/2006/relationships/image" Target="../media/image28.tmp"/><Relationship Id="rId4" Type="http://schemas.openxmlformats.org/officeDocument/2006/relationships/image" Target="../media/image27.tm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mp"/><Relationship Id="rId2" Type="http://schemas.openxmlformats.org/officeDocument/2006/relationships/image" Target="../media/image30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tmp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tmp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tmp"/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tmp"/><Relationship Id="rId2" Type="http://schemas.openxmlformats.org/officeDocument/2006/relationships/image" Target="../media/image37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tmp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tmp"/><Relationship Id="rId2" Type="http://schemas.openxmlformats.org/officeDocument/2006/relationships/image" Target="../media/image40.tmp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tm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mp"/><Relationship Id="rId2" Type="http://schemas.openxmlformats.org/officeDocument/2006/relationships/image" Target="../media/image15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tm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tmp"/><Relationship Id="rId2" Type="http://schemas.openxmlformats.org/officeDocument/2006/relationships/image" Target="../media/image46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tmp"/><Relationship Id="rId2" Type="http://schemas.openxmlformats.org/officeDocument/2006/relationships/image" Target="../media/image49.tmp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tmp"/><Relationship Id="rId4" Type="http://schemas.openxmlformats.org/officeDocument/2006/relationships/image" Target="../media/image51.tm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tmp"/><Relationship Id="rId2" Type="http://schemas.openxmlformats.org/officeDocument/2006/relationships/image" Target="../media/image53.tmp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tmp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tmp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tmp"/><Relationship Id="rId2" Type="http://schemas.openxmlformats.org/officeDocument/2006/relationships/image" Target="../media/image57.tmp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tmp"/><Relationship Id="rId2" Type="http://schemas.openxmlformats.org/officeDocument/2006/relationships/image" Target="../media/image59.tmp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tmp"/><Relationship Id="rId2" Type="http://schemas.openxmlformats.org/officeDocument/2006/relationships/hyperlink" Target="https://arxiv.org/pdf/2304.00501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2.tmp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tmp"/><Relationship Id="rId2" Type="http://schemas.openxmlformats.org/officeDocument/2006/relationships/image" Target="../media/image63.tmp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tmp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tmp"/><Relationship Id="rId2" Type="http://schemas.openxmlformats.org/officeDocument/2006/relationships/image" Target="../media/image66.tmp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tmp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tmp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tmp"/><Relationship Id="rId2" Type="http://schemas.openxmlformats.org/officeDocument/2006/relationships/image" Target="../media/image70.tmp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tmp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tmp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tmp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812646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Semantic image segmentation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28702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1CF7A3-7218-454F-1466-1E0D81DAB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image segmentation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BFA5CB3-C129-1B9B-DC8B-4BD0DC76E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8885" y="2098406"/>
            <a:ext cx="5213679" cy="371891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DE3C5A-B353-8EE7-9EC9-ECB6332B62B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444" y="2371844"/>
            <a:ext cx="4700337" cy="312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857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994B87-ABD2-3993-4D45-1CC136BB8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Semantic image segmentation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3309730-FFDC-169A-6F48-FC76C2EF1B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97" y="1541705"/>
            <a:ext cx="3772301" cy="23531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48B97F-472C-1830-A66F-96F3F60D5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197" y="4358899"/>
            <a:ext cx="5474851" cy="201885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9B7C1D5-ACD7-CF5B-4137-BB57AEC192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9382" y="1436302"/>
            <a:ext cx="4891940" cy="373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9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E916B53-DAA2-0B07-67BD-E8A29FF0B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SegNet</a:t>
            </a:r>
            <a:r>
              <a:rPr lang="en-US" dirty="0"/>
              <a:t> (2015)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F54484-E49A-BC72-A911-DA7F2FBE9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790" y="1509774"/>
            <a:ext cx="9340037" cy="269931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982E2E-B803-CAE0-C805-7F26A51B5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134" y="4427051"/>
            <a:ext cx="3967466" cy="2306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220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0B97FC-94F4-8134-CA7D-5BE1140F63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U-net (2015)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4CB529D-2D6B-5520-5A43-1C9CB18265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701" y="1622033"/>
            <a:ext cx="7261596" cy="4841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46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83147A-C705-9B18-8EBC-50AE6254B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up-scale transforms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DD8C8B51-A5B2-8989-DE69-7ED3492816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555" y="1690688"/>
            <a:ext cx="2071074" cy="23239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9C4B365-B829-6B2C-BE82-9FA4C84A03BB}"/>
              </a:ext>
            </a:extLst>
          </p:cNvPr>
          <p:cNvSpPr txBox="1"/>
          <p:nvPr/>
        </p:nvSpPr>
        <p:spPr>
          <a:xfrm>
            <a:off x="352799" y="4523875"/>
            <a:ext cx="495418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Transposed convolutions:</a:t>
            </a:r>
          </a:p>
          <a:p>
            <a:pPr marL="285750" indent="-285750">
              <a:buFontTx/>
              <a:buChar char="-"/>
            </a:pPr>
            <a:r>
              <a:rPr lang="en-US" dirty="0"/>
              <a:t>has learnable parameters</a:t>
            </a:r>
          </a:p>
          <a:p>
            <a:pPr marL="285750" indent="-285750">
              <a:buFontTx/>
              <a:buChar char="-"/>
            </a:pPr>
            <a:r>
              <a:rPr lang="en-US" dirty="0"/>
              <a:t>may slow to compute</a:t>
            </a:r>
          </a:p>
          <a:p>
            <a:pPr marL="285750" indent="-285750">
              <a:buFontTx/>
              <a:buChar char="-"/>
            </a:pPr>
            <a:r>
              <a:rPr lang="en-US" dirty="0"/>
              <a:t>may lead sometimes to checkerboard patterns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361EAC3-37BF-9073-B529-F14515409F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766" y="1504032"/>
            <a:ext cx="3574373" cy="17638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4E7BFC-A315-9B44-864F-0BA0CED79739}"/>
              </a:ext>
            </a:extLst>
          </p:cNvPr>
          <p:cNvSpPr txBox="1"/>
          <p:nvPr/>
        </p:nvSpPr>
        <p:spPr>
          <a:xfrm>
            <a:off x="9147736" y="1504032"/>
            <a:ext cx="311484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Nearest Neighbors upscaling:</a:t>
            </a:r>
          </a:p>
          <a:p>
            <a:pPr marL="285750" indent="-285750">
              <a:buFontTx/>
              <a:buChar char="-"/>
            </a:pPr>
            <a:r>
              <a:rPr lang="en-US" dirty="0"/>
              <a:t>No parameters, fast to compute</a:t>
            </a:r>
          </a:p>
          <a:p>
            <a:pPr marL="285750" indent="-285750">
              <a:buFontTx/>
              <a:buChar char="-"/>
            </a:pPr>
            <a:r>
              <a:rPr lang="en-US" dirty="0"/>
              <a:t>Too blocky result</a:t>
            </a:r>
            <a:endParaRPr lang="ru-RU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F5CE94B4-D2BF-3237-75DC-C886386715D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4340" y="3395781"/>
            <a:ext cx="3623300" cy="185356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BE6E440-C842-E2B6-C36A-6B414D5472C3}"/>
              </a:ext>
            </a:extLst>
          </p:cNvPr>
          <p:cNvSpPr txBox="1"/>
          <p:nvPr/>
        </p:nvSpPr>
        <p:spPr>
          <a:xfrm>
            <a:off x="9147736" y="3426344"/>
            <a:ext cx="32699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Bilinear interpolation:</a:t>
            </a:r>
          </a:p>
          <a:p>
            <a:pPr marL="285750" indent="-285750">
              <a:buFontTx/>
              <a:buChar char="-"/>
            </a:pPr>
            <a:r>
              <a:rPr lang="en-US" dirty="0"/>
              <a:t>No parameters, fast to compute, can both upscale and downscale the result</a:t>
            </a:r>
          </a:p>
          <a:p>
            <a:pPr marL="285750" indent="-285750">
              <a:buFontTx/>
              <a:buChar char="-"/>
            </a:pPr>
            <a:r>
              <a:rPr lang="en-US" dirty="0"/>
              <a:t>Usually shows good results </a:t>
            </a:r>
            <a:endParaRPr lang="ru-RU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EAD5EDD9-C3D8-AD53-FC05-1DD35DFF85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2274" y="1671101"/>
            <a:ext cx="1528272" cy="2852774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7B32F9E-38A2-08BF-E6E0-2298E174426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94" y="5810721"/>
            <a:ext cx="3908164" cy="95543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7C2FCC9E-592D-FA54-F262-DABE46E1C42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8441" y="5351057"/>
            <a:ext cx="2749821" cy="1038394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DC1D182-81C3-E0D8-895E-0022B9007DD7}"/>
              </a:ext>
            </a:extLst>
          </p:cNvPr>
          <p:cNvSpPr txBox="1"/>
          <p:nvPr/>
        </p:nvSpPr>
        <p:spPr>
          <a:xfrm>
            <a:off x="6361701" y="6425961"/>
            <a:ext cx="36233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</a:t>
            </a:r>
            <a:r>
              <a:rPr lang="en-US" dirty="0">
                <a:hlinkClick r:id="rId8"/>
              </a:rPr>
              <a:t>article</a:t>
            </a:r>
            <a:r>
              <a:rPr lang="en-US" dirty="0"/>
              <a:t> about checkerboard effect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561876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9461C4-6750-3E01-E648-8DF3769D87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performance for semantic segmentation </a:t>
            </a:r>
            <a:endParaRPr lang="ru-RU" dirty="0"/>
          </a:p>
        </p:txBody>
      </p:sp>
      <p:pic>
        <p:nvPicPr>
          <p:cNvPr id="4" name="Объект 4">
            <a:extLst>
              <a:ext uri="{FF2B5EF4-FFF2-40B4-BE49-F238E27FC236}">
                <a16:creationId xmlns:a16="http://schemas.microsoft.com/office/drawing/2014/main" id="{D8BC716B-14AA-3DDF-6F96-105EFA140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345" y="1736627"/>
            <a:ext cx="4640202" cy="2004805"/>
          </a:xfr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5262AA0-B2B3-0A21-C851-AB336CB146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400" y="3514606"/>
            <a:ext cx="1746340" cy="73028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F327229-75A5-570E-8708-CCE70AC960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9960" y="3551384"/>
            <a:ext cx="2127359" cy="755689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1B9D59E-AC3A-010D-8877-9B6794A0007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968" y="5771976"/>
            <a:ext cx="1854295" cy="7112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8C214F1-0A09-CFC9-E8CD-1C07252D6841}"/>
              </a:ext>
            </a:extLst>
          </p:cNvPr>
          <p:cNvSpPr txBox="1"/>
          <p:nvPr/>
        </p:nvSpPr>
        <p:spPr>
          <a:xfrm>
            <a:off x="289558" y="1883553"/>
            <a:ext cx="639591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problem: different segments may be very imbalanced in size =&gt; standard accuracy can be misleading</a:t>
            </a:r>
            <a:endParaRPr lang="ru-RU" sz="28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098D62-41D5-5102-B928-EBE6379D6364}"/>
              </a:ext>
            </a:extLst>
          </p:cNvPr>
          <p:cNvSpPr txBox="1"/>
          <p:nvPr/>
        </p:nvSpPr>
        <p:spPr>
          <a:xfrm>
            <a:off x="325767" y="4584035"/>
            <a:ext cx="50248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Dice and </a:t>
            </a:r>
            <a:r>
              <a:rPr lang="en-US" sz="2800" dirty="0" err="1"/>
              <a:t>IoU</a:t>
            </a:r>
            <a:r>
              <a:rPr lang="en-US" sz="2800" dirty="0"/>
              <a:t> are monotonically dependent:</a:t>
            </a:r>
            <a:endParaRPr lang="ru-RU" sz="28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653ADAA-1A87-2ED6-6535-FB9A02BE95C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6682" y="4731140"/>
            <a:ext cx="3067022" cy="1893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1016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2725D0-35D7-8598-45CA-5C459524D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performance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15392F-9C77-06A5-BB74-DF264EF7FA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7" y="1557233"/>
            <a:ext cx="5673343" cy="36933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68A9651-1F12-2941-2ED4-E0B460BCE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770" y="1995086"/>
            <a:ext cx="6903660" cy="369332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E43943C-2370-BAB2-E393-F8DB302A61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557" y="2365778"/>
            <a:ext cx="5052838" cy="514818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99DC2490-7415-6F5C-5CB6-BA1B0E69F5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09" y="3782902"/>
            <a:ext cx="8344899" cy="978874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054F7A94-400B-1C1D-93F5-75F8F76F80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952" y="5573924"/>
            <a:ext cx="8384875" cy="71192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DB6C94F-CEAD-F78F-AF82-D95CC0AB59D3}"/>
              </a:ext>
            </a:extLst>
          </p:cNvPr>
          <p:cNvSpPr txBox="1"/>
          <p:nvPr/>
        </p:nvSpPr>
        <p:spPr>
          <a:xfrm>
            <a:off x="280932" y="3375917"/>
            <a:ext cx="24018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Main metric:</a:t>
            </a:r>
            <a:endParaRPr lang="ru-RU"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F9CEB1-E1E2-0A91-A08B-649B6D263179}"/>
              </a:ext>
            </a:extLst>
          </p:cNvPr>
          <p:cNvSpPr txBox="1"/>
          <p:nvPr/>
        </p:nvSpPr>
        <p:spPr>
          <a:xfrm>
            <a:off x="269567" y="4907815"/>
            <a:ext cx="29480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Auxiliary metric: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2474074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F0032-59AA-E71A-84DB-17495B5EF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losses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0C3378-F8EA-73E9-5B6C-AFBCD24B91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060" y="3602414"/>
            <a:ext cx="4680191" cy="83824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500C580-70C9-A3BC-F253-B34B82A3C1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837" y="1752700"/>
            <a:ext cx="4781796" cy="342918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F8E4010-0E22-E66F-7E8B-5E6534E9D1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463" y="2413119"/>
            <a:ext cx="6261422" cy="88904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E3AE3218-6229-4909-4586-10FCBA7905B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9267" y="2540335"/>
            <a:ext cx="3664138" cy="717587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011A56BD-D634-3018-A08F-400A2669CBE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89" y="4684833"/>
            <a:ext cx="5899453" cy="95254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5476854-680D-741B-A4DA-1E0296918B86}"/>
              </a:ext>
            </a:extLst>
          </p:cNvPr>
          <p:cNvSpPr txBox="1"/>
          <p:nvPr/>
        </p:nvSpPr>
        <p:spPr>
          <a:xfrm>
            <a:off x="6975214" y="4869665"/>
            <a:ext cx="51794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Background class can be excluded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640999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FB938F-5DE2-85FE-78A7-1B3F03622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LinkNet</a:t>
            </a:r>
            <a:r>
              <a:rPr lang="en-US" dirty="0"/>
              <a:t> (2017)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CDF23A6-9E5A-16D8-336E-93F75DE48A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3839678" cy="474172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B59EFB1-3782-8743-59DB-D5EA7248E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59307"/>
            <a:ext cx="2451234" cy="428965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8F0320D-EF39-8BAD-7726-14102AB9FE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3134" y="2900737"/>
            <a:ext cx="2055674" cy="225870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AF9D350-18FF-C485-DB56-99437B7B514C}"/>
              </a:ext>
            </a:extLst>
          </p:cNvPr>
          <p:cNvSpPr txBox="1"/>
          <p:nvPr/>
        </p:nvSpPr>
        <p:spPr>
          <a:xfrm>
            <a:off x="6569007" y="6063079"/>
            <a:ext cx="1505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Encoder block</a:t>
            </a:r>
            <a:endParaRPr lang="ru-RU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9502A3-2556-B493-D2CB-0AB0EF66919E}"/>
              </a:ext>
            </a:extLst>
          </p:cNvPr>
          <p:cNvSpPr txBox="1"/>
          <p:nvPr/>
        </p:nvSpPr>
        <p:spPr>
          <a:xfrm>
            <a:off x="9686338" y="5476775"/>
            <a:ext cx="1529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Decoder block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0137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22688D-2E5B-E7DB-1AE1-6EFEE3A1A8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PSPNet</a:t>
            </a:r>
            <a:r>
              <a:rPr lang="en-US" dirty="0"/>
              <a:t> (2016)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5504B6B-DA64-BEC4-9468-D40D366A9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582" y="2021308"/>
            <a:ext cx="10889553" cy="3062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904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A03B39-C214-7A68-6912-80BAF63F6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DeepLab</a:t>
            </a:r>
            <a:r>
              <a:rPr lang="en-US" dirty="0"/>
              <a:t> v1, v2, …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3A733D-A66D-B4EB-2CE6-2CADCAEC8C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044" y="2374083"/>
            <a:ext cx="5188737" cy="2623994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21C945-E94F-15BA-7471-4EBFE6D8B7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9396" y="2306706"/>
            <a:ext cx="5737800" cy="2623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0548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DE6479-5A04-C6CF-7882-B090F9073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DeepLab</a:t>
            </a:r>
            <a:r>
              <a:rPr lang="en-US" dirty="0"/>
              <a:t> v3+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8D82C80-22BC-37C6-8C7D-2FD742F3E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1424" y="2161515"/>
            <a:ext cx="8335477" cy="326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696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37CF7D-574B-AFFB-CC0D-ADA81FEDD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Depth-wise separable convolution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BD96A91B-CB45-13FC-FD52-3935E473EE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0600" y="2332224"/>
            <a:ext cx="2812566" cy="293008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F64DC83-B498-BD60-E12E-81D2A8872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693" y="2421454"/>
            <a:ext cx="1371670" cy="2311519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AFBEE82-6EF6-21B9-0610-A762C2D3DA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67278" y="2332224"/>
            <a:ext cx="2552831" cy="37974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9349C7-FB52-C441-DE88-3C1BA21DDEC2}"/>
              </a:ext>
            </a:extLst>
          </p:cNvPr>
          <p:cNvSpPr txBox="1"/>
          <p:nvPr/>
        </p:nvSpPr>
        <p:spPr>
          <a:xfrm>
            <a:off x="529389" y="1755696"/>
            <a:ext cx="20442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Normal convolution</a:t>
            </a:r>
            <a:endParaRPr lang="ru-RU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F50CEE3-EFCB-1702-88B4-47A65757482D}"/>
              </a:ext>
            </a:extLst>
          </p:cNvPr>
          <p:cNvSpPr txBox="1"/>
          <p:nvPr/>
        </p:nvSpPr>
        <p:spPr>
          <a:xfrm>
            <a:off x="3522035" y="1755696"/>
            <a:ext cx="24167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Depth-wise convolution</a:t>
            </a:r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09C349-3FFF-9B5D-512D-DA1CF628D930}"/>
              </a:ext>
            </a:extLst>
          </p:cNvPr>
          <p:cNvSpPr txBox="1"/>
          <p:nvPr/>
        </p:nvSpPr>
        <p:spPr>
          <a:xfrm>
            <a:off x="6966273" y="1755696"/>
            <a:ext cx="3383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Depth-wise separable convolution</a:t>
            </a:r>
            <a:endParaRPr lang="ru-RU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88B0AD9-2EF1-2583-DE8A-0E896777DEA7}"/>
              </a:ext>
            </a:extLst>
          </p:cNvPr>
          <p:cNvSpPr txBox="1"/>
          <p:nvPr/>
        </p:nvSpPr>
        <p:spPr>
          <a:xfrm>
            <a:off x="168026" y="5524886"/>
            <a:ext cx="302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No. of params for 3 output channels: 3*(3*3*3)</a:t>
            </a:r>
            <a:endParaRPr lang="ru-RU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865239-913D-93C1-FA65-2C9CB8EAE78F}"/>
              </a:ext>
            </a:extLst>
          </p:cNvPr>
          <p:cNvSpPr txBox="1"/>
          <p:nvPr/>
        </p:nvSpPr>
        <p:spPr>
          <a:xfrm>
            <a:off x="3461760" y="5535306"/>
            <a:ext cx="22013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No. of params: 3*3*3</a:t>
            </a:r>
            <a:endParaRPr lang="ru-RU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B3F6A0-89BB-DC36-43C7-83F093EEFDCB}"/>
              </a:ext>
            </a:extLst>
          </p:cNvPr>
          <p:cNvSpPr txBox="1"/>
          <p:nvPr/>
        </p:nvSpPr>
        <p:spPr>
          <a:xfrm>
            <a:off x="6083166" y="6308209"/>
            <a:ext cx="5214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No. of params for 3 output channels: 3*3*3 + 3*(3*1)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6838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C10C99-6204-6F54-25DA-E6E0B8FAAB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segmentation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92835E-DE81-2547-949D-F634B5B7F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Main architectural ideas</a:t>
            </a:r>
            <a:r>
              <a:rPr lang="ru-RU" dirty="0"/>
              <a:t> </a:t>
            </a:r>
            <a:r>
              <a:rPr lang="en-US" dirty="0"/>
              <a:t>with convolutional NNs:</a:t>
            </a:r>
          </a:p>
          <a:p>
            <a:pPr lvl="1"/>
            <a:r>
              <a:rPr lang="en-US" sz="2800" dirty="0"/>
              <a:t>Encoder-decoder structure with connections on different resolution levels</a:t>
            </a:r>
          </a:p>
          <a:p>
            <a:pPr lvl="1"/>
            <a:r>
              <a:rPr lang="en-US" sz="2800" dirty="0"/>
              <a:t>Pyramid Pooling Module (PPM) or </a:t>
            </a:r>
            <a:r>
              <a:rPr lang="en-US" sz="2800" dirty="0" err="1"/>
              <a:t>Atrous</a:t>
            </a:r>
            <a:r>
              <a:rPr lang="en-US" sz="2800" dirty="0"/>
              <a:t> Spatial Pyramid Pooling  (ASPP) for analyzing images on different scales and better consider global context</a:t>
            </a:r>
          </a:p>
          <a:p>
            <a:pPr lvl="1"/>
            <a:r>
              <a:rPr lang="en-US" sz="2800" dirty="0"/>
              <a:t>Depth-wise separable convolutions for a smaller number of parameters and faster computations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39984252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80F89-123E-673F-DAB5-0700F66AF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Segment Anything</a:t>
            </a:r>
            <a:r>
              <a:rPr lang="ru-RU" dirty="0"/>
              <a:t> </a:t>
            </a:r>
            <a:r>
              <a:rPr lang="en-GB" dirty="0"/>
              <a:t>Model for interactive segmentation (SAM)</a:t>
            </a:r>
            <a:endParaRPr lang="de-DE" dirty="0"/>
          </a:p>
        </p:txBody>
      </p:sp>
      <p:pic>
        <p:nvPicPr>
          <p:cNvPr id="9" name="Content Placeholder 8" descr="A diagram of a model of cat&#10;&#10;Description automatically generated">
            <a:extLst>
              <a:ext uri="{FF2B5EF4-FFF2-40B4-BE49-F238E27FC236}">
                <a16:creationId xmlns:a16="http://schemas.microsoft.com/office/drawing/2014/main" id="{A0325FBB-8A59-214A-B257-BB02AB945D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34" y="2391794"/>
            <a:ext cx="4311718" cy="3164984"/>
          </a:xfrm>
        </p:spPr>
      </p:pic>
      <p:pic>
        <p:nvPicPr>
          <p:cNvPr id="11" name="Picture 10" descr="A collage of images of a bird&#10;&#10;Description automatically generated">
            <a:extLst>
              <a:ext uri="{FF2B5EF4-FFF2-40B4-BE49-F238E27FC236}">
                <a16:creationId xmlns:a16="http://schemas.microsoft.com/office/drawing/2014/main" id="{B5B346BD-8F03-565A-693E-668842520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152" y="1732888"/>
            <a:ext cx="4534293" cy="495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5392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E6E5EE1-707E-57AD-86C6-8912F95368A9}"/>
              </a:ext>
            </a:extLst>
          </p:cNvPr>
          <p:cNvSpPr txBox="1">
            <a:spLocks/>
          </p:cNvSpPr>
          <p:nvPr/>
        </p:nvSpPr>
        <p:spPr>
          <a:xfrm>
            <a:off x="1899387" y="20715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/>
              <a:t>Object detection on images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2289179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 detection</a:t>
            </a:r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2D1499A-32E7-F10F-C3EB-61A35D8C03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633" y="1806191"/>
            <a:ext cx="5855001" cy="4388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9110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A8D30B-28A9-4FB4-4E95-7C837EBCB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detection performance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B7F1F0-4B46-48AC-9AFC-C35FBA8EAD6B}"/>
              </a:ext>
            </a:extLst>
          </p:cNvPr>
          <p:cNvSpPr txBox="1"/>
          <p:nvPr/>
        </p:nvSpPr>
        <p:spPr>
          <a:xfrm>
            <a:off x="289558" y="1556296"/>
            <a:ext cx="1106424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Many sources of errors in detection: classification errors, localization errors, duplicates, non-found bounding boxes, etc. </a:t>
            </a:r>
            <a:endParaRPr lang="ru-RU" sz="2800" dirty="0"/>
          </a:p>
        </p:txBody>
      </p:sp>
      <p:pic>
        <p:nvPicPr>
          <p:cNvPr id="6" name="Объект 4">
            <a:extLst>
              <a:ext uri="{FF2B5EF4-FFF2-40B4-BE49-F238E27FC236}">
                <a16:creationId xmlns:a16="http://schemas.microsoft.com/office/drawing/2014/main" id="{02CC0496-724A-3C5F-9756-57E06B09FD4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6877" y="2500778"/>
            <a:ext cx="4953255" cy="2140060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EC793FF-58AA-C727-6138-0F481B540F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55" y="2579559"/>
            <a:ext cx="4813547" cy="153042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559C4E19-D81E-D429-C1BA-5D47F3A0606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55" y="4327838"/>
            <a:ext cx="5295144" cy="2349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5306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C31A7-E058-C202-12B9-7633AEAD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76E905-4F70-44F2-A32C-AD5205E1E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detection performance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F6EDE0-B951-AE6E-1441-D00BF3913E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8692" y="2220261"/>
            <a:ext cx="11308882" cy="4777306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/>
              <a:t>1. For each class: for all testing images take all bounding-boxes predictions for given class with their classification scores.</a:t>
            </a:r>
          </a:p>
          <a:p>
            <a:pPr marL="0" indent="0">
              <a:buNone/>
            </a:pPr>
            <a:r>
              <a:rPr lang="en-US" sz="2400" dirty="0"/>
              <a:t>2. Init: TP = 0, FP = 0, FN = #GT BBs for this class</a:t>
            </a:r>
          </a:p>
          <a:p>
            <a:pPr marL="0" indent="0">
              <a:buNone/>
            </a:pPr>
            <a:r>
              <a:rPr lang="en-US" sz="2400" dirty="0"/>
              <a:t>3. Sort all BBs </a:t>
            </a:r>
            <a:r>
              <a:rPr lang="en-US" sz="2400" dirty="0" err="1"/>
              <a:t>w.r.t.</a:t>
            </a:r>
            <a:r>
              <a:rPr lang="en-US" sz="2400" dirty="0"/>
              <a:t> classification scores and sequentially compute:</a:t>
            </a:r>
          </a:p>
          <a:p>
            <a:pPr marL="457200" lvl="1" indent="0">
              <a:buNone/>
            </a:pPr>
            <a:r>
              <a:rPr lang="en-US" sz="2000" dirty="0"/>
              <a:t>3.1. If BB hat </a:t>
            </a:r>
            <a:r>
              <a:rPr lang="en-US" sz="2000" dirty="0" err="1"/>
              <a:t>IoU</a:t>
            </a:r>
            <a:r>
              <a:rPr lang="en-US" sz="2000" dirty="0"/>
              <a:t> &gt;= 0.5 with GT BB for this class and this GT BB is not assigned to some predicted BB, then TP+=1, assign GT BB to given BB, FN-=1</a:t>
            </a:r>
          </a:p>
          <a:p>
            <a:pPr marL="457200" lvl="1" indent="0">
              <a:buNone/>
            </a:pPr>
            <a:r>
              <a:rPr lang="en-US" sz="2000" dirty="0"/>
              <a:t>3.2. If BB hat </a:t>
            </a:r>
            <a:r>
              <a:rPr lang="en-US" sz="2000" dirty="0" err="1"/>
              <a:t>IoU</a:t>
            </a:r>
            <a:r>
              <a:rPr lang="en-US" sz="2000" dirty="0"/>
              <a:t> &gt;= 0.5 with GT BB and this GT BB is already assigned (duplicate) or </a:t>
            </a:r>
            <a:r>
              <a:rPr lang="en-US" sz="2000" dirty="0" err="1"/>
              <a:t>IoU</a:t>
            </a:r>
            <a:r>
              <a:rPr lang="en-US" sz="2000" dirty="0"/>
              <a:t> &lt; 0.5, then FP+=1</a:t>
            </a:r>
          </a:p>
          <a:p>
            <a:pPr marL="457200" lvl="1" indent="0">
              <a:buNone/>
            </a:pPr>
            <a:r>
              <a:rPr lang="en-US" sz="2000" dirty="0"/>
              <a:t>3.3. Compute Precision, Recall values</a:t>
            </a:r>
          </a:p>
          <a:p>
            <a:pPr marL="0" indent="0">
              <a:buNone/>
            </a:pPr>
            <a:r>
              <a:rPr lang="en-US" sz="2400" dirty="0"/>
              <a:t>4. Compute AP = Area under PR-curve</a:t>
            </a:r>
          </a:p>
          <a:p>
            <a:pPr marL="0" indent="0">
              <a:buNone/>
            </a:pPr>
            <a:r>
              <a:rPr lang="en-US" sz="2400" dirty="0"/>
              <a:t>5. Compute </a:t>
            </a:r>
            <a:r>
              <a:rPr lang="en-US" sz="2400" dirty="0" err="1"/>
              <a:t>mAP</a:t>
            </a:r>
            <a:r>
              <a:rPr lang="en-US" sz="2400" dirty="0"/>
              <a:t> = AP averaging </a:t>
            </a:r>
            <a:r>
              <a:rPr lang="en-US" sz="2400" dirty="0" err="1"/>
              <a:t>w.r.t.</a:t>
            </a:r>
            <a:r>
              <a:rPr lang="en-US" sz="2400" dirty="0"/>
              <a:t> all classes</a:t>
            </a:r>
          </a:p>
          <a:p>
            <a:pPr marL="0" indent="0">
              <a:buNone/>
            </a:pPr>
            <a:r>
              <a:rPr lang="en-US" sz="2400" dirty="0"/>
              <a:t>6. Compute </a:t>
            </a:r>
            <a:r>
              <a:rPr lang="en-US" sz="2400" dirty="0" err="1"/>
              <a:t>mAP</a:t>
            </a:r>
            <a:r>
              <a:rPr lang="en-US" sz="2400" dirty="0"/>
              <a:t>@[0.5:0.95] by averaging </a:t>
            </a:r>
            <a:r>
              <a:rPr lang="en-US" sz="2400" dirty="0" err="1"/>
              <a:t>mAP</a:t>
            </a:r>
            <a:r>
              <a:rPr lang="en-US" sz="2400" dirty="0"/>
              <a:t> at different thresholds for </a:t>
            </a:r>
            <a:r>
              <a:rPr lang="en-US" sz="2400" dirty="0" err="1"/>
              <a:t>IoU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C476172-F01C-47EE-642C-4428D9B9EAB9}"/>
              </a:ext>
            </a:extLst>
          </p:cNvPr>
          <p:cNvSpPr txBox="1"/>
          <p:nvPr/>
        </p:nvSpPr>
        <p:spPr>
          <a:xfrm>
            <a:off x="587941" y="1527419"/>
            <a:ext cx="42150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err="1"/>
              <a:t>mAP</a:t>
            </a:r>
            <a:r>
              <a:rPr lang="en-US" sz="2800" dirty="0"/>
              <a:t> computation scheme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12501965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A48EB1-612B-A0AB-6CA6-8D04551E0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R-CNN (2013)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1DFC5DD-C6C7-B9DC-820D-1E802F36F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1854" y="2021303"/>
            <a:ext cx="9971946" cy="360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222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56FB6-D4C1-3627-755D-697F8C9C7C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R-CNN (2013)</a:t>
            </a:r>
            <a:endParaRPr lang="ru-RU" dirty="0"/>
          </a:p>
        </p:txBody>
      </p:sp>
      <p:pic>
        <p:nvPicPr>
          <p:cNvPr id="7" name="Объект 6">
            <a:extLst>
              <a:ext uri="{FF2B5EF4-FFF2-40B4-BE49-F238E27FC236}">
                <a16:creationId xmlns:a16="http://schemas.microsoft.com/office/drawing/2014/main" id="{5C2343EF-D4A5-BD6D-B2E7-6F79E8F2AA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1526" y="3367283"/>
            <a:ext cx="5390147" cy="3291753"/>
          </a:xfrm>
        </p:spPr>
      </p:pic>
      <p:pic>
        <p:nvPicPr>
          <p:cNvPr id="5" name="Объект 4">
            <a:extLst>
              <a:ext uri="{FF2B5EF4-FFF2-40B4-BE49-F238E27FC236}">
                <a16:creationId xmlns:a16="http://schemas.microsoft.com/office/drawing/2014/main" id="{04314B95-760C-8BCD-F880-58EA5DEE87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4374" y="3721300"/>
            <a:ext cx="2584583" cy="2482978"/>
          </a:xfrm>
          <a:prstGeom prst="rect">
            <a:avLst/>
          </a:prstGeom>
        </p:spPr>
      </p:pic>
      <p:sp>
        <p:nvSpPr>
          <p:cNvPr id="8" name="Объект 10">
            <a:extLst>
              <a:ext uri="{FF2B5EF4-FFF2-40B4-BE49-F238E27FC236}">
                <a16:creationId xmlns:a16="http://schemas.microsoft.com/office/drawing/2014/main" id="{58DFD79C-24E9-19F1-19BE-C590E974287F}"/>
              </a:ext>
            </a:extLst>
          </p:cNvPr>
          <p:cNvSpPr txBox="1">
            <a:spLocks/>
          </p:cNvSpPr>
          <p:nvPr/>
        </p:nvSpPr>
        <p:spPr>
          <a:xfrm>
            <a:off x="1252085" y="1498182"/>
            <a:ext cx="10515600" cy="193081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Training</a:t>
            </a:r>
            <a:r>
              <a:rPr lang="ru-RU" dirty="0"/>
              <a:t>: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1) Generation of region proposals using Selective Search</a:t>
            </a:r>
            <a:r>
              <a:rPr lang="ru-RU" dirty="0"/>
              <a:t> (</a:t>
            </a:r>
            <a:r>
              <a:rPr lang="en-US" dirty="0"/>
              <a:t>classic CV algorithm = agglomerative clustering on </a:t>
            </a:r>
            <a:r>
              <a:rPr lang="en-US" dirty="0" err="1"/>
              <a:t>superpixels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2) Training classifiers and regressors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11721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9E24DE-3ABF-BAEA-219E-2D6E77FFD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R-CNN (2013)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1ED414-DA36-C9B4-996E-C9A60A6EE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Inference</a:t>
            </a:r>
            <a:r>
              <a:rPr lang="ru-RU" dirty="0"/>
              <a:t>:</a:t>
            </a:r>
          </a:p>
          <a:p>
            <a:pPr marL="514350" indent="-514350">
              <a:buAutoNum type="arabicParenR"/>
            </a:pPr>
            <a:r>
              <a:rPr lang="en-US" dirty="0"/>
              <a:t>Generate region proposals</a:t>
            </a:r>
            <a:endParaRPr lang="ru-RU" dirty="0"/>
          </a:p>
          <a:p>
            <a:pPr marL="514350" indent="-514350">
              <a:buAutoNum type="arabicParenR"/>
            </a:pPr>
            <a:r>
              <a:rPr lang="en-US" dirty="0"/>
              <a:t>For each region find class probabilities and regression correction coefficients</a:t>
            </a:r>
            <a:endParaRPr lang="ru-RU" dirty="0"/>
          </a:p>
          <a:p>
            <a:pPr marL="514350" indent="-514350">
              <a:buAutoNum type="arabicParenR"/>
            </a:pPr>
            <a:r>
              <a:rPr lang="en-US" dirty="0"/>
              <a:t>For each class make greedy non-maximum suppression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96220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BE796-AB85-20DC-D335-479F0B3C7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R-CNN (2015)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9BC4D4A0-B587-AB2D-C3CF-BC0ED83B69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7046" y="3003322"/>
            <a:ext cx="8852939" cy="3579072"/>
          </a:xfr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722B4269-0FAC-3E5E-3C06-8FE0791FC06D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99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Main idea</a:t>
            </a:r>
            <a:r>
              <a:rPr lang="ru-RU" dirty="0"/>
              <a:t>: </a:t>
            </a:r>
            <a:r>
              <a:rPr lang="en-US" dirty="0"/>
              <a:t>CNN is applied for each image only once</a:t>
            </a:r>
            <a:endParaRPr lang="ru-RU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Training in one stage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517706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629CD-42B1-20A0-2EA7-2792AC28B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 R-CNN (2015)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CB37E69-80BB-6F3A-6D64-55FEB25578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842" y="2743199"/>
            <a:ext cx="2585864" cy="2699801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4036AD3-42F7-3764-4E41-5FB32FC385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6764" y="2733574"/>
            <a:ext cx="2616227" cy="272270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F4F2760-DBA7-6855-2964-560197453E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21625" y="2728933"/>
            <a:ext cx="2616227" cy="2727341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36AD8D5-B44D-5174-E8F7-2F4D6AB45D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5193" y="3346439"/>
            <a:ext cx="1454225" cy="1492327"/>
          </a:xfrm>
          <a:prstGeom prst="rect">
            <a:avLst/>
          </a:prstGeom>
        </p:spPr>
      </p:pic>
      <p:sp>
        <p:nvSpPr>
          <p:cNvPr id="12" name="Объект 2">
            <a:extLst>
              <a:ext uri="{FF2B5EF4-FFF2-40B4-BE49-F238E27FC236}">
                <a16:creationId xmlns:a16="http://schemas.microsoft.com/office/drawing/2014/main" id="{EEC0CC57-52A6-4177-487A-2EE0A025D0D4}"/>
              </a:ext>
            </a:extLst>
          </p:cNvPr>
          <p:cNvSpPr txBox="1">
            <a:spLocks/>
          </p:cNvSpPr>
          <p:nvPr/>
        </p:nvSpPr>
        <p:spPr>
          <a:xfrm>
            <a:off x="770306" y="1609837"/>
            <a:ext cx="10515600" cy="99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Finding fixed-sized vector for each </a:t>
            </a:r>
            <a:r>
              <a:rPr lang="en-US" dirty="0" err="1"/>
              <a:t>RoI</a:t>
            </a:r>
            <a:endParaRPr lang="ru-RU" dirty="0"/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F17C3639-86E7-2D68-9B3F-BDE85B90E2D3}"/>
              </a:ext>
            </a:extLst>
          </p:cNvPr>
          <p:cNvCxnSpPr>
            <a:cxnSpLocks/>
            <a:stCxn id="5" idx="3"/>
            <a:endCxn id="7" idx="1"/>
          </p:cNvCxnSpPr>
          <p:nvPr/>
        </p:nvCxnSpPr>
        <p:spPr>
          <a:xfrm>
            <a:off x="3472706" y="4093100"/>
            <a:ext cx="384058" cy="1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E97E353-A026-C955-E5DA-525B20DBBD7A}"/>
              </a:ext>
            </a:extLst>
          </p:cNvPr>
          <p:cNvCxnSpPr>
            <a:cxnSpLocks/>
            <a:stCxn id="7" idx="3"/>
            <a:endCxn id="9" idx="1"/>
          </p:cNvCxnSpPr>
          <p:nvPr/>
        </p:nvCxnSpPr>
        <p:spPr>
          <a:xfrm flipV="1">
            <a:off x="6472991" y="4092604"/>
            <a:ext cx="348634" cy="23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FF689BC5-1273-7C61-4A40-4D88F920D0AD}"/>
              </a:ext>
            </a:extLst>
          </p:cNvPr>
          <p:cNvCxnSpPr>
            <a:cxnSpLocks/>
            <a:stCxn id="9" idx="3"/>
            <a:endCxn id="11" idx="1"/>
          </p:cNvCxnSpPr>
          <p:nvPr/>
        </p:nvCxnSpPr>
        <p:spPr>
          <a:xfrm flipV="1">
            <a:off x="9437852" y="4092603"/>
            <a:ext cx="31734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3449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E02114-3C0C-B937-78FA-BCEF5ACF0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Faster R-CNN (2015)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E5A41C7-8CC0-93E3-2ABE-E70D2D8D61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37" y="1588655"/>
            <a:ext cx="4918637" cy="4892975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20350C7-0340-AFB2-7F0B-21A71EFF1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7963" y="2204186"/>
            <a:ext cx="5366254" cy="3265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081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7B35B7-E4FE-B707-758B-7325F444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Faster R-CNN (2015)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449540-09BA-DF70-CB98-2CDFE01D1A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RPN training:</a:t>
            </a:r>
          </a:p>
          <a:p>
            <a:pPr marL="514350" indent="-514350">
              <a:buAutoNum type="arabicParenR"/>
            </a:pPr>
            <a:r>
              <a:rPr lang="en-US" dirty="0"/>
              <a:t>Find all anchors</a:t>
            </a:r>
            <a:endParaRPr lang="ru-RU" dirty="0"/>
          </a:p>
          <a:p>
            <a:pPr marL="514350" indent="-514350">
              <a:buAutoNum type="arabicParenR"/>
            </a:pPr>
            <a:r>
              <a:rPr lang="en-US" dirty="0"/>
              <a:t>Skip/truncate anchors intersecting image boundaries</a:t>
            </a:r>
          </a:p>
          <a:p>
            <a:pPr marL="514350" indent="-514350">
              <a:buAutoNum type="arabicParenR"/>
            </a:pPr>
            <a:r>
              <a:rPr lang="en-US" dirty="0"/>
              <a:t>Determine positive and negative anchors using </a:t>
            </a:r>
            <a:r>
              <a:rPr lang="en-US" dirty="0" err="1"/>
              <a:t>IoU</a:t>
            </a:r>
            <a:r>
              <a:rPr lang="en-US" dirty="0"/>
              <a:t> with true bounding boxes</a:t>
            </a:r>
          </a:p>
          <a:p>
            <a:pPr marL="514350" indent="-514350">
              <a:buAutoNum type="arabicParenR"/>
            </a:pPr>
            <a:r>
              <a:rPr lang="en-US" dirty="0"/>
              <a:t>Train object presence classifier and </a:t>
            </a:r>
            <a:r>
              <a:rPr lang="en-US" dirty="0" err="1"/>
              <a:t>bbox</a:t>
            </a:r>
            <a:r>
              <a:rPr lang="en-US" dirty="0"/>
              <a:t> regressor</a:t>
            </a:r>
          </a:p>
          <a:p>
            <a:pPr marL="514350" indent="-514350">
              <a:buAutoNum type="arabicParenR"/>
            </a:pPr>
            <a:endParaRPr lang="en-US" dirty="0"/>
          </a:p>
          <a:p>
            <a:pPr marL="0" indent="0">
              <a:buNone/>
            </a:pPr>
            <a:r>
              <a:rPr lang="en-US" dirty="0"/>
              <a:t>RPN testing:</a:t>
            </a:r>
            <a:endParaRPr lang="ru-RU" dirty="0"/>
          </a:p>
          <a:p>
            <a:pPr marL="514350" indent="-514350">
              <a:buAutoNum type="arabicParenR"/>
            </a:pPr>
            <a:r>
              <a:rPr lang="en-US" dirty="0"/>
              <a:t>Predict regions</a:t>
            </a:r>
          </a:p>
          <a:p>
            <a:pPr marL="514350" indent="-514350">
              <a:buAutoNum type="arabicParenR"/>
            </a:pPr>
            <a:r>
              <a:rPr lang="en-US" dirty="0"/>
              <a:t>Apply greedy non-maximum suppression</a:t>
            </a:r>
            <a:endParaRPr lang="ru-RU" dirty="0"/>
          </a:p>
          <a:p>
            <a:pPr marL="514350" indent="-514350">
              <a:buAutoNum type="arabicParenR"/>
            </a:pPr>
            <a:r>
              <a:rPr lang="en-US" dirty="0"/>
              <a:t>Select top</a:t>
            </a:r>
            <a:r>
              <a:rPr lang="ru-RU" dirty="0"/>
              <a:t> </a:t>
            </a:r>
            <a:r>
              <a:rPr lang="en-US" dirty="0"/>
              <a:t>2000/</a:t>
            </a:r>
            <a:r>
              <a:rPr lang="ru-RU" dirty="0"/>
              <a:t>300 </a:t>
            </a:r>
            <a:r>
              <a:rPr lang="en-US" dirty="0"/>
              <a:t>by object presence probability</a:t>
            </a:r>
            <a:endParaRPr lang="ru-RU" dirty="0"/>
          </a:p>
          <a:p>
            <a:pPr marL="514350" indent="-514350">
              <a:buAutoNum type="arabicParenR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263562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849F5A-3E9C-248E-B1DB-29AFB6EC6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Faster R-CNN (2015)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D2A9824B-BABF-F6AE-C163-CCC9543511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7552" y="1742174"/>
            <a:ext cx="7884180" cy="4673700"/>
          </a:xfrm>
        </p:spPr>
      </p:pic>
    </p:spTree>
    <p:extLst>
      <p:ext uri="{BB962C8B-B14F-4D97-AF65-F5344CB8AC3E}">
        <p14:creationId xmlns:p14="http://schemas.microsoft.com/office/powerpoint/2010/main" val="579799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29F10D-3C0E-E470-31DF-33DCE269C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time speed for R-CNN family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5792F6-E4D5-E3B5-8BE3-FECD228E3B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9101" y="2103475"/>
            <a:ext cx="7445791" cy="3893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593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B83689-4097-8E74-71ED-B836C817C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</a:t>
            </a:r>
            <a:r>
              <a:rPr lang="ru-RU" dirty="0"/>
              <a:t> </a:t>
            </a:r>
            <a:r>
              <a:rPr lang="en-US" dirty="0"/>
              <a:t>Feature Pyramid Network (FPN) to</a:t>
            </a:r>
            <a:r>
              <a:rPr lang="ru-RU" dirty="0"/>
              <a:t> </a:t>
            </a:r>
            <a:r>
              <a:rPr lang="en-US" dirty="0"/>
              <a:t>Faster R-CNN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E4643BC-D347-0733-F765-8B9A926C86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440" y="2651285"/>
            <a:ext cx="3242430" cy="248125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6AE2181-4301-8CBA-B470-DF1F3D9C69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2734" y="1809549"/>
            <a:ext cx="5490185" cy="4624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71763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863EDD-0D86-F8A2-1063-6E381540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SSD (2016)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C269D763-09CA-86BE-8032-859D4CC74F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5783" y="2237506"/>
            <a:ext cx="5650411" cy="2123219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918A104-9568-1741-2BED-C7DEE9FF77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975" y="4415128"/>
            <a:ext cx="7905578" cy="2354298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3CD6F9F3-EE59-94E8-D60F-1766678A0EF8}"/>
              </a:ext>
            </a:extLst>
          </p:cNvPr>
          <p:cNvSpPr txBox="1">
            <a:spLocks/>
          </p:cNvSpPr>
          <p:nvPr/>
        </p:nvSpPr>
        <p:spPr>
          <a:xfrm>
            <a:off x="787558" y="1575333"/>
            <a:ext cx="5650411" cy="503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One stage object detection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59238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0E8BD-4477-8706-0416-0D8C96D2B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hlinkClick r:id="rId2"/>
              </a:rPr>
              <a:t>YOLO</a:t>
            </a:r>
            <a:r>
              <a:rPr lang="en-GB" dirty="0"/>
              <a:t> family (v1, v2, …, v12, …)</a:t>
            </a:r>
            <a:endParaRPr lang="de-DE" dirty="0"/>
          </a:p>
        </p:txBody>
      </p:sp>
      <p:pic>
        <p:nvPicPr>
          <p:cNvPr id="6" name="Рисунок 5" descr="Изображение выглядит как диаграмма, снимок экрана, линия, круг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309C764-3165-5A1B-28CE-99F09AAF0E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7486" y="2570671"/>
            <a:ext cx="4831130" cy="2622431"/>
          </a:xfrm>
          <a:prstGeom prst="rect">
            <a:avLst/>
          </a:prstGeom>
        </p:spPr>
      </p:pic>
      <p:pic>
        <p:nvPicPr>
          <p:cNvPr id="9" name="Рисунок 8" descr="Изображение выглядит как текст, снимок экран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F81FFAE-4A25-3468-C18F-E2398A5BE8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264" y="2268935"/>
            <a:ext cx="5324769" cy="292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8866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6B6C21-108E-C898-1EDF-087C808E4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RetinaNet</a:t>
            </a:r>
            <a:r>
              <a:rPr lang="en-US" dirty="0"/>
              <a:t> (2017)</a:t>
            </a:r>
            <a:endParaRPr lang="ru-RU" dirty="0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327EDC7-0BC6-185E-3D09-971EC3CD19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272" y="1309034"/>
            <a:ext cx="9289455" cy="2524136"/>
          </a:xfr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7F9AD0D-6C29-CD08-E82B-91F47BBC4E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1503" y="3975235"/>
            <a:ext cx="4420679" cy="277688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BB07CAD-FF59-7884-FE5E-55AC7C0DD934}"/>
              </a:ext>
            </a:extLst>
          </p:cNvPr>
          <p:cNvSpPr txBox="1"/>
          <p:nvPr/>
        </p:nvSpPr>
        <p:spPr>
          <a:xfrm>
            <a:off x="2582488" y="4315414"/>
            <a:ext cx="1370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/>
              <a:t>Focal loss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1305427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FB955B3-D8C7-B029-DF01-F4D3C4CCC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Instance segmentation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23221B4-01B0-30B1-8592-18FC42503D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9426" y="1749139"/>
            <a:ext cx="8430488" cy="4536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8711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C83587-B6DF-0702-45F4-62B221CCA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 R-CNN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EAEB69-ED1F-9FD7-04A3-D22D981CBA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936" y="2194960"/>
            <a:ext cx="8115676" cy="366682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78E0D975-EE86-A126-D011-9A5F9C1BB9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77137" y="2410148"/>
            <a:ext cx="1952030" cy="1944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987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C76B349F-4455-294D-5CDB-1599DEA80C78}"/>
              </a:ext>
            </a:extLst>
          </p:cNvPr>
          <p:cNvSpPr txBox="1">
            <a:spLocks/>
          </p:cNvSpPr>
          <p:nvPr/>
        </p:nvSpPr>
        <p:spPr>
          <a:xfrm>
            <a:off x="1591275" y="207157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GB" sz="6000" dirty="0"/>
              <a:t>Image style transfer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22264449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D6AA2-1913-1B8E-E754-F21AD36B7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Image style transfer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93580-6C11-278E-EF3F-06ED68E9E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Inputs: content image, style image</a:t>
            </a:r>
          </a:p>
          <a:p>
            <a:r>
              <a:rPr lang="en-GB" dirty="0"/>
              <a:t>Output: stylized image</a:t>
            </a:r>
            <a:endParaRPr lang="de-DE" dirty="0"/>
          </a:p>
        </p:txBody>
      </p:sp>
      <p:pic>
        <p:nvPicPr>
          <p:cNvPr id="4" name="Picture 3" descr="A collage of a painting of a building">
            <a:extLst>
              <a:ext uri="{FF2B5EF4-FFF2-40B4-BE49-F238E27FC236}">
                <a16:creationId xmlns:a16="http://schemas.microsoft.com/office/drawing/2014/main" id="{D085CC4F-BBA8-E07F-A305-49FB48EFA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3636" y="1436754"/>
            <a:ext cx="5551328" cy="474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784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82270-F41B-CDCC-4EAD-AA56E19F5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Optimization-based ST (</a:t>
            </a:r>
            <a:r>
              <a:rPr lang="en-GB" dirty="0" err="1"/>
              <a:t>Gatys</a:t>
            </a:r>
            <a:r>
              <a:rPr lang="en-GB" dirty="0"/>
              <a:t> et al., 2015)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F5EAA3-DFF0-2F74-45F9-EAE5143AC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Consider convolutional neural network (VGG)</a:t>
            </a:r>
          </a:p>
          <a:p>
            <a:r>
              <a:rPr lang="en-GB" dirty="0"/>
              <a:t>Content is reconstructed from activations on different layers</a:t>
            </a:r>
          </a:p>
          <a:p>
            <a:r>
              <a:rPr lang="en-GB" dirty="0"/>
              <a:t>Style is reconstructed from correlation of its activations on different layers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561142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6F0E7-C7E2-3371-21C8-566E6B564C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Optimization-based ST</a:t>
            </a:r>
            <a:endParaRPr lang="de-DE" dirty="0"/>
          </a:p>
        </p:txBody>
      </p:sp>
      <p:pic>
        <p:nvPicPr>
          <p:cNvPr id="5" name="Picture 4" descr="A white background with black text and symbols&#10;&#10;Description automatically generated">
            <a:extLst>
              <a:ext uri="{FF2B5EF4-FFF2-40B4-BE49-F238E27FC236}">
                <a16:creationId xmlns:a16="http://schemas.microsoft.com/office/drawing/2014/main" id="{03A662FF-2E7D-DA48-7498-1DEEDDAC72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06531"/>
            <a:ext cx="7926430" cy="4786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29515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9DB78-8B5F-2147-C9E2-1E5779475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Optimization-based ST</a:t>
            </a:r>
            <a:endParaRPr lang="de-DE" dirty="0"/>
          </a:p>
        </p:txBody>
      </p:sp>
      <p:pic>
        <p:nvPicPr>
          <p:cNvPr id="5" name="Picture 4" descr="A math equations and formulas&#10;&#10;Description automatically generated">
            <a:extLst>
              <a:ext uri="{FF2B5EF4-FFF2-40B4-BE49-F238E27FC236}">
                <a16:creationId xmlns:a16="http://schemas.microsoft.com/office/drawing/2014/main" id="{EF13D0E9-D731-16B5-2669-A5C64D5835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90558"/>
            <a:ext cx="9381242" cy="2602538"/>
          </a:xfrm>
          <a:prstGeom prst="rect">
            <a:avLst/>
          </a:prstGeom>
        </p:spPr>
      </p:pic>
      <p:pic>
        <p:nvPicPr>
          <p:cNvPr id="7" name="Picture 6" descr="A math equation with black text&#10;&#10;Description automatically generated">
            <a:extLst>
              <a:ext uri="{FF2B5EF4-FFF2-40B4-BE49-F238E27FC236}">
                <a16:creationId xmlns:a16="http://schemas.microsoft.com/office/drawing/2014/main" id="{B5ED2A43-095D-835E-4760-E44381F305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4582727"/>
            <a:ext cx="7639878" cy="151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46337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0F28-97AB-E50C-8EDD-B93DCEDAA8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Optimization-based ST</a:t>
            </a:r>
            <a:endParaRPr lang="de-DE" dirty="0"/>
          </a:p>
        </p:txBody>
      </p:sp>
      <p:pic>
        <p:nvPicPr>
          <p:cNvPr id="5" name="Picture 4" descr="A diagram of a building&#10;&#10;Description automatically generated with medium confidence">
            <a:extLst>
              <a:ext uri="{FF2B5EF4-FFF2-40B4-BE49-F238E27FC236}">
                <a16:creationId xmlns:a16="http://schemas.microsoft.com/office/drawing/2014/main" id="{35A0CE58-3DE1-3A1E-744F-1517412B08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5274" y="1408175"/>
            <a:ext cx="7453469" cy="530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6276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13C8D-0D60-941D-0A65-F94DA5B3C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99710" cy="1325563"/>
          </a:xfrm>
        </p:spPr>
        <p:txBody>
          <a:bodyPr/>
          <a:lstStyle/>
          <a:p>
            <a:r>
              <a:rPr lang="en-GB" dirty="0"/>
              <a:t>Transformation-based ST</a:t>
            </a:r>
            <a:r>
              <a:rPr lang="ru-RU" dirty="0"/>
              <a:t> (</a:t>
            </a:r>
            <a:r>
              <a:rPr lang="en-GB" dirty="0"/>
              <a:t>Johnson et al., 2016)</a:t>
            </a:r>
            <a:endParaRPr lang="de-DE" dirty="0"/>
          </a:p>
        </p:txBody>
      </p:sp>
      <p:pic>
        <p:nvPicPr>
          <p:cNvPr id="5" name="Picture 4" descr="A diagram of a network&#10;&#10;Description automatically generated">
            <a:extLst>
              <a:ext uri="{FF2B5EF4-FFF2-40B4-BE49-F238E27FC236}">
                <a16:creationId xmlns:a16="http://schemas.microsoft.com/office/drawing/2014/main" id="{74ADAB63-44D9-0BB4-4A47-1B2E1EAFE7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551" y="2377006"/>
            <a:ext cx="9676898" cy="3636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79962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87FA72-3FA3-0E1D-7AC8-4C98ECE47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Transformation-based ST</a:t>
            </a:r>
            <a:endParaRPr lang="de-DE" dirty="0"/>
          </a:p>
        </p:txBody>
      </p:sp>
      <p:pic>
        <p:nvPicPr>
          <p:cNvPr id="5" name="Picture 4" descr="A table with numbers and a few letters&#10;&#10;Description automatically generated with medium confidence">
            <a:extLst>
              <a:ext uri="{FF2B5EF4-FFF2-40B4-BE49-F238E27FC236}">
                <a16:creationId xmlns:a16="http://schemas.microsoft.com/office/drawing/2014/main" id="{A189968B-0224-123B-7417-A90DC30325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1698" y="2826262"/>
            <a:ext cx="8997688" cy="218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1181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730</Words>
  <Application>Microsoft Office PowerPoint</Application>
  <PresentationFormat>Широкоэкранный</PresentationFormat>
  <Paragraphs>111</Paragraphs>
  <Slides>43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43</vt:i4>
      </vt:variant>
    </vt:vector>
  </HeadingPairs>
  <TitlesOfParts>
    <vt:vector size="47" baseType="lpstr">
      <vt:lpstr>Arial</vt:lpstr>
      <vt:lpstr>Calibri</vt:lpstr>
      <vt:lpstr>Calibri Light</vt:lpstr>
      <vt:lpstr>Тема Office</vt:lpstr>
      <vt:lpstr>Semantic image segmentation</vt:lpstr>
      <vt:lpstr>Semantic image segmentation</vt:lpstr>
      <vt:lpstr>Semantic image segmentation</vt:lpstr>
      <vt:lpstr>SegNet (2015)</vt:lpstr>
      <vt:lpstr>U-net (2015)</vt:lpstr>
      <vt:lpstr>Different up-scale transforms</vt:lpstr>
      <vt:lpstr>Measuring performance for semantic segmentation </vt:lpstr>
      <vt:lpstr>Testing performance</vt:lpstr>
      <vt:lpstr>Training losses</vt:lpstr>
      <vt:lpstr>LinkNet (2017)</vt:lpstr>
      <vt:lpstr>PSPNet (2016)</vt:lpstr>
      <vt:lpstr>DeepLab v1, v2, …</vt:lpstr>
      <vt:lpstr>DeepLab v3+</vt:lpstr>
      <vt:lpstr>Depth-wise separable convolution</vt:lpstr>
      <vt:lpstr>Image segmentation</vt:lpstr>
      <vt:lpstr>Segment Anything Model for interactive segmentation (SAM)</vt:lpstr>
      <vt:lpstr>Презентация PowerPoint</vt:lpstr>
      <vt:lpstr>Object detection</vt:lpstr>
      <vt:lpstr>Measuring detection performance</vt:lpstr>
      <vt:lpstr>Measuring detection performance</vt:lpstr>
      <vt:lpstr>R-CNN (2013)</vt:lpstr>
      <vt:lpstr>R-CNN (2013)</vt:lpstr>
      <vt:lpstr>R-CNN (2013)</vt:lpstr>
      <vt:lpstr>Fast R-CNN (2015)</vt:lpstr>
      <vt:lpstr>Fast R-CNN (2015)</vt:lpstr>
      <vt:lpstr>Faster R-CNN (2015)</vt:lpstr>
      <vt:lpstr>Faster R-CNN (2015)</vt:lpstr>
      <vt:lpstr>Faster R-CNN (2015)</vt:lpstr>
      <vt:lpstr>Test time speed for R-CNN family</vt:lpstr>
      <vt:lpstr>Adding Feature Pyramid Network (FPN) to Faster R-CNN</vt:lpstr>
      <vt:lpstr>SSD (2016)</vt:lpstr>
      <vt:lpstr>YOLO family (v1, v2, …, v12, …)</vt:lpstr>
      <vt:lpstr>RetinaNet (2017)</vt:lpstr>
      <vt:lpstr>Instance segmentation</vt:lpstr>
      <vt:lpstr>Mask R-CNN</vt:lpstr>
      <vt:lpstr>Презентация PowerPoint</vt:lpstr>
      <vt:lpstr>Image style transfer</vt:lpstr>
      <vt:lpstr>Optimization-based ST (Gatys et al., 2015)</vt:lpstr>
      <vt:lpstr>Optimization-based ST</vt:lpstr>
      <vt:lpstr>Optimization-based ST</vt:lpstr>
      <vt:lpstr>Optimization-based ST</vt:lpstr>
      <vt:lpstr>Transformation-based ST (Johnson et al., 2016)</vt:lpstr>
      <vt:lpstr>Transformation-based ST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</dc:title>
  <dc:creator>Николаева</dc:creator>
  <cp:lastModifiedBy>Dmitry Kropotov</cp:lastModifiedBy>
  <cp:revision>119</cp:revision>
  <dcterms:created xsi:type="dcterms:W3CDTF">2016-07-15T17:21:31Z</dcterms:created>
  <dcterms:modified xsi:type="dcterms:W3CDTF">2026-09-30T11:57:59Z</dcterms:modified>
</cp:coreProperties>
</file>