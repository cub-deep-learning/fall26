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256" r:id="rId2"/>
    <p:sldId id="258" r:id="rId3"/>
    <p:sldId id="259" r:id="rId4"/>
    <p:sldId id="263" r:id="rId5"/>
    <p:sldId id="262" r:id="rId6"/>
    <p:sldId id="264" r:id="rId7"/>
    <p:sldId id="265" r:id="rId8"/>
    <p:sldId id="267" r:id="rId9"/>
    <p:sldId id="268" r:id="rId10"/>
    <p:sldId id="269" r:id="rId11"/>
    <p:sldId id="273" r:id="rId12"/>
    <p:sldId id="270" r:id="rId13"/>
    <p:sldId id="271" r:id="rId14"/>
    <p:sldId id="272" r:id="rId15"/>
    <p:sldId id="276" r:id="rId16"/>
    <p:sldId id="274" r:id="rId17"/>
    <p:sldId id="275" r:id="rId18"/>
    <p:sldId id="266" r:id="rId19"/>
    <p:sldId id="277" r:id="rId20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Средний стиль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74" d="100"/>
          <a:sy n="74" d="100"/>
        </p:scale>
        <p:origin x="376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9A202F-4299-479C-B15E-F143261314E2}" type="datetimeFigureOut">
              <a:rPr lang="ru-RU" smtClean="0"/>
              <a:t>17.09.2025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3F2C122-6047-4DF2-B658-83EED2B0EF1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721634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3F2C122-6047-4DF2-B658-83EED2B0EF10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3903450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3F2C122-6047-4DF2-B658-83EED2B0EF10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5572582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3F2C122-6047-4DF2-B658-83EED2B0EF10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848069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C0110C-44BF-413A-8FA8-51FBC9510905}" type="datetimeFigureOut">
              <a:rPr lang="ru-RU" smtClean="0"/>
              <a:t>17.09.2025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E6F2DD-97A6-4ADB-A4AD-00C5B7798F0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217076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C0110C-44BF-413A-8FA8-51FBC9510905}" type="datetimeFigureOut">
              <a:rPr lang="ru-RU" smtClean="0"/>
              <a:t>17.09.2025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E6F2DD-97A6-4ADB-A4AD-00C5B7798F0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694527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C0110C-44BF-413A-8FA8-51FBC9510905}" type="datetimeFigureOut">
              <a:rPr lang="ru-RU" smtClean="0"/>
              <a:t>17.09.2025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E6F2DD-97A6-4ADB-A4AD-00C5B7798F0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994101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C0110C-44BF-413A-8FA8-51FBC9510905}" type="datetimeFigureOut">
              <a:rPr lang="ru-RU" smtClean="0"/>
              <a:t>17.09.2025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E6F2DD-97A6-4ADB-A4AD-00C5B7798F0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888988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C0110C-44BF-413A-8FA8-51FBC9510905}" type="datetimeFigureOut">
              <a:rPr lang="ru-RU" smtClean="0"/>
              <a:t>17.09.2025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E6F2DD-97A6-4ADB-A4AD-00C5B7798F0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271920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C0110C-44BF-413A-8FA8-51FBC9510905}" type="datetimeFigureOut">
              <a:rPr lang="ru-RU" smtClean="0"/>
              <a:t>17.09.2025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E6F2DD-97A6-4ADB-A4AD-00C5B7798F0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454441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C0110C-44BF-413A-8FA8-51FBC9510905}" type="datetimeFigureOut">
              <a:rPr lang="ru-RU" smtClean="0"/>
              <a:t>17.09.2025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E6F2DD-97A6-4ADB-A4AD-00C5B7798F0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041788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C0110C-44BF-413A-8FA8-51FBC9510905}" type="datetimeFigureOut">
              <a:rPr lang="ru-RU" smtClean="0"/>
              <a:t>17.09.2025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E6F2DD-97A6-4ADB-A4AD-00C5B7798F0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215151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C0110C-44BF-413A-8FA8-51FBC9510905}" type="datetimeFigureOut">
              <a:rPr lang="ru-RU" smtClean="0"/>
              <a:t>17.09.2025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E6F2DD-97A6-4ADB-A4AD-00C5B7798F0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115580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C0110C-44BF-413A-8FA8-51FBC9510905}" type="datetimeFigureOut">
              <a:rPr lang="ru-RU" smtClean="0"/>
              <a:t>17.09.2025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E6F2DD-97A6-4ADB-A4AD-00C5B7798F0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626512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C0110C-44BF-413A-8FA8-51FBC9510905}" type="datetimeFigureOut">
              <a:rPr lang="ru-RU" smtClean="0"/>
              <a:t>17.09.2025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E6F2DD-97A6-4ADB-A4AD-00C5B7798F0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897675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C0110C-44BF-413A-8FA8-51FBC9510905}" type="datetimeFigureOut">
              <a:rPr lang="ru-RU" smtClean="0"/>
              <a:t>17.09.2025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E6F2DD-97A6-4ADB-A4AD-00C5B7798F0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631356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tmp"/><Relationship Id="rId3" Type="http://schemas.openxmlformats.org/officeDocument/2006/relationships/image" Target="../media/image4.PNG"/><Relationship Id="rId7" Type="http://schemas.openxmlformats.org/officeDocument/2006/relationships/image" Target="../media/image8.tm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tmp"/><Relationship Id="rId5" Type="http://schemas.openxmlformats.org/officeDocument/2006/relationships/image" Target="../media/image6.tmp"/><Relationship Id="rId4" Type="http://schemas.openxmlformats.org/officeDocument/2006/relationships/image" Target="../media/image5.tmp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gif"/><Relationship Id="rId2" Type="http://schemas.openxmlformats.org/officeDocument/2006/relationships/image" Target="../media/image11.gi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gif"/><Relationship Id="rId4" Type="http://schemas.openxmlformats.org/officeDocument/2006/relationships/image" Target="../media/image13.gi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gif"/><Relationship Id="rId2" Type="http://schemas.openxmlformats.org/officeDocument/2006/relationships/image" Target="../media/image15.gi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em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em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em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emf"/><Relationship Id="rId2" Type="http://schemas.openxmlformats.org/officeDocument/2006/relationships/image" Target="../media/image21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e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emf"/><Relationship Id="rId2" Type="http://schemas.openxmlformats.org/officeDocument/2006/relationships/image" Target="../media/image24.emf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emf"/><Relationship Id="rId2" Type="http://schemas.openxmlformats.org/officeDocument/2006/relationships/image" Target="../media/image21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emf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Convolutional neural networks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287023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ImageNet (image-net.org)</a:t>
            </a:r>
            <a:endParaRPr lang="ru-RU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9988" y="1690688"/>
            <a:ext cx="6737518" cy="4890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3"/>
          <p:cNvSpPr/>
          <p:nvPr/>
        </p:nvSpPr>
        <p:spPr>
          <a:xfrm>
            <a:off x="8414891" y="2466841"/>
            <a:ext cx="3046566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/>
              <a:t>14,197,122 images</a:t>
            </a:r>
            <a:br>
              <a:rPr lang="en-US" sz="2000" dirty="0"/>
            </a:br>
            <a:r>
              <a:rPr lang="en-US" sz="2000" dirty="0"/>
              <a:t>21841 categories</a:t>
            </a:r>
          </a:p>
        </p:txBody>
      </p:sp>
    </p:spTree>
    <p:extLst>
      <p:ext uri="{BB962C8B-B14F-4D97-AF65-F5344CB8AC3E}">
        <p14:creationId xmlns:p14="http://schemas.microsoft.com/office/powerpoint/2010/main" val="11639110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5954" y="509778"/>
            <a:ext cx="9880092" cy="5838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5313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Объект 2">
            <a:extLst>
              <a:ext uri="{FF2B5EF4-FFF2-40B4-BE49-F238E27FC236}">
                <a16:creationId xmlns:a16="http://schemas.microsoft.com/office/drawing/2014/main" id="{7CA35915-3975-263A-234B-46F28FB378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34882" y="769339"/>
            <a:ext cx="6818918" cy="5234646"/>
          </a:xfrm>
        </p:spPr>
        <p:txBody>
          <a:bodyPr>
            <a:normAutofit/>
          </a:bodyPr>
          <a:lstStyle/>
          <a:p>
            <a:pPr marL="914400" lvl="1" indent="-457200">
              <a:buAutoNum type="arabicPeriod"/>
            </a:pPr>
            <a:r>
              <a:rPr lang="en-US" dirty="0"/>
              <a:t>Compute horizontal brightness gradients</a:t>
            </a:r>
          </a:p>
          <a:p>
            <a:pPr marL="914400" lvl="1" indent="-457200">
              <a:buAutoNum type="arabicPeriod"/>
            </a:pPr>
            <a:endParaRPr lang="en-US" dirty="0"/>
          </a:p>
          <a:p>
            <a:pPr marL="914400" lvl="1" indent="-457200">
              <a:buAutoNum type="arabicPeriod"/>
            </a:pPr>
            <a:endParaRPr lang="en-US" dirty="0"/>
          </a:p>
          <a:p>
            <a:pPr marL="914400" lvl="1" indent="-457200">
              <a:buAutoNum type="arabicPeriod"/>
            </a:pPr>
            <a:endParaRPr lang="en-US" dirty="0"/>
          </a:p>
          <a:p>
            <a:pPr marL="914400" lvl="1" indent="-457200">
              <a:buAutoNum type="arabicPeriod"/>
            </a:pPr>
            <a:endParaRPr lang="en-US" dirty="0"/>
          </a:p>
          <a:p>
            <a:pPr marL="914400" lvl="1" indent="-457200">
              <a:buAutoNum type="arabicPeriod"/>
            </a:pPr>
            <a:r>
              <a:rPr lang="en-US" dirty="0"/>
              <a:t>Compute vertical brightness gradients</a:t>
            </a:r>
          </a:p>
          <a:p>
            <a:pPr marL="914400" lvl="1" indent="-457200">
              <a:buAutoNum type="arabicPeriod"/>
            </a:pPr>
            <a:endParaRPr lang="en-US" dirty="0"/>
          </a:p>
          <a:p>
            <a:pPr marL="914400" lvl="1" indent="-457200">
              <a:buAutoNum type="arabicPeriod"/>
            </a:pPr>
            <a:endParaRPr lang="en-US" dirty="0"/>
          </a:p>
          <a:p>
            <a:pPr marL="914400" lvl="1" indent="-457200">
              <a:buAutoNum type="arabicPeriod"/>
            </a:pPr>
            <a:endParaRPr lang="en-US" dirty="0"/>
          </a:p>
          <a:p>
            <a:pPr marL="914400" lvl="1" indent="-457200">
              <a:buAutoNum type="arabicPeriod"/>
            </a:pPr>
            <a:endParaRPr lang="en-US" dirty="0"/>
          </a:p>
          <a:p>
            <a:pPr marL="914400" lvl="1" indent="-457200">
              <a:buAutoNum type="arabicPeriod"/>
            </a:pPr>
            <a:r>
              <a:rPr lang="en-US" dirty="0"/>
              <a:t>Final image</a:t>
            </a:r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Sobel filter</a:t>
            </a:r>
            <a:endParaRPr lang="ru-RU" dirty="0"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5904" y="1745263"/>
            <a:ext cx="2792082" cy="2094062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5904" y="4620439"/>
            <a:ext cx="2792082" cy="209406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55096" y="1404019"/>
            <a:ext cx="13336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Initial image</a:t>
            </a:r>
            <a:endParaRPr lang="ru-RU" dirty="0"/>
          </a:p>
        </p:txBody>
      </p:sp>
      <p:sp>
        <p:nvSpPr>
          <p:cNvPr id="10" name="TextBox 9"/>
          <p:cNvSpPr txBox="1"/>
          <p:nvPr/>
        </p:nvSpPr>
        <p:spPr>
          <a:xfrm>
            <a:off x="712113" y="4251107"/>
            <a:ext cx="32196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Image after the filter application</a:t>
            </a:r>
            <a:endParaRPr lang="ru-RU" dirty="0"/>
          </a:p>
        </p:txBody>
      </p:sp>
      <p:pic>
        <p:nvPicPr>
          <p:cNvPr id="4" name="Рисунок 3" descr="Изображение выглядит как диаграмма, Шрифт, дизайн, типография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70DE2A35-A70C-41DC-3756-34D6E6EBCCC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01040" y="1357342"/>
            <a:ext cx="2635245" cy="1196071"/>
          </a:xfrm>
          <a:prstGeom prst="rect">
            <a:avLst/>
          </a:prstGeom>
        </p:spPr>
      </p:pic>
      <p:pic>
        <p:nvPicPr>
          <p:cNvPr id="6" name="Рисунок 5" descr="Изображение выглядит как диаграмма, Шрифт, число, линия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4CF61CE6-2E30-AAE7-2279-1548C695062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49455" y="3299123"/>
            <a:ext cx="2520608" cy="1126228"/>
          </a:xfrm>
          <a:prstGeom prst="rect">
            <a:avLst/>
          </a:prstGeom>
        </p:spPr>
      </p:pic>
      <p:pic>
        <p:nvPicPr>
          <p:cNvPr id="12" name="Рисунок 11" descr="Изображение выглядит как Шрифт, число, белый, символ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783A8553-17A9-8E9C-C52F-9F19CF6BF37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49890" y="5388402"/>
            <a:ext cx="2102299" cy="668914"/>
          </a:xfrm>
          <a:prstGeom prst="rect">
            <a:avLst/>
          </a:prstGeom>
        </p:spPr>
      </p:pic>
      <p:pic>
        <p:nvPicPr>
          <p:cNvPr id="14" name="Рисунок 13" descr="Изображение выглядит как Шрифт, типография, символ, рукописный текст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3E214AD0-4CE8-6F36-F866-0DE7A422C9A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28692" y="1744019"/>
            <a:ext cx="1485976" cy="361969"/>
          </a:xfrm>
          <a:prstGeom prst="rect">
            <a:avLst/>
          </a:prstGeom>
        </p:spPr>
      </p:pic>
      <p:pic>
        <p:nvPicPr>
          <p:cNvPr id="16" name="Рисунок 15" descr="Изображение выглядит как Шрифт, типография, символ, каллиграфия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1A6D672D-CFB1-3705-ECB4-30A689F6743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07812" y="3629764"/>
            <a:ext cx="1466925" cy="4191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5122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2374" y="1486741"/>
            <a:ext cx="9647252" cy="2654300"/>
          </a:xfrm>
          <a:prstGeom prst="rect">
            <a:avLst/>
          </a:prstGeom>
        </p:spPr>
      </p:pic>
      <p:sp>
        <p:nvSpPr>
          <p:cNvPr id="9" name="Объект 2"/>
          <p:cNvSpPr>
            <a:spLocks noGrp="1"/>
          </p:cNvSpPr>
          <p:nvPr>
            <p:ph idx="1"/>
          </p:nvPr>
        </p:nvSpPr>
        <p:spPr>
          <a:xfrm>
            <a:off x="743308" y="4404916"/>
            <a:ext cx="5148533" cy="2384067"/>
          </a:xfrm>
        </p:spPr>
        <p:txBody>
          <a:bodyPr>
            <a:normAutofit/>
          </a:bodyPr>
          <a:lstStyle/>
          <a:p>
            <a:r>
              <a:rPr lang="en-US" dirty="0"/>
              <a:t>Operations in the network:</a:t>
            </a:r>
            <a:endParaRPr lang="ru-RU" dirty="0"/>
          </a:p>
          <a:p>
            <a:pPr lvl="1"/>
            <a:r>
              <a:rPr lang="en-US" dirty="0"/>
              <a:t>Convolution with kernel</a:t>
            </a:r>
            <a:endParaRPr lang="ru-RU" dirty="0"/>
          </a:p>
          <a:p>
            <a:pPr lvl="1"/>
            <a:r>
              <a:rPr lang="en-US" dirty="0"/>
              <a:t>Non-linearity</a:t>
            </a:r>
            <a:endParaRPr lang="ru-RU" dirty="0"/>
          </a:p>
          <a:p>
            <a:pPr lvl="1"/>
            <a:r>
              <a:rPr lang="en-US" dirty="0"/>
              <a:t>Pooling</a:t>
            </a:r>
            <a:endParaRPr lang="ru-RU" dirty="0"/>
          </a:p>
          <a:p>
            <a:pPr lvl="1"/>
            <a:r>
              <a:rPr lang="en-US" dirty="0"/>
              <a:t>Fully-connected networks</a:t>
            </a:r>
            <a:endParaRPr lang="ru-RU" dirty="0"/>
          </a:p>
          <a:p>
            <a:pPr lvl="1"/>
            <a:endParaRPr lang="ru-RU" dirty="0"/>
          </a:p>
        </p:txBody>
      </p:sp>
      <p:sp>
        <p:nvSpPr>
          <p:cNvPr id="10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 err="1"/>
              <a:t>LeNet</a:t>
            </a:r>
            <a:r>
              <a:rPr lang="en-US" dirty="0"/>
              <a:t> network [LeCun et al., 1998]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624673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Convolution visualization</a:t>
            </a:r>
            <a:endParaRPr lang="ru-RU" dirty="0"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3709" y="1690688"/>
            <a:ext cx="1877378" cy="1992791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76555" y="1690688"/>
            <a:ext cx="2291070" cy="2244313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11466" y="1690688"/>
            <a:ext cx="3085597" cy="350742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13709" y="4718560"/>
            <a:ext cx="22124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No padding, no stride</a:t>
            </a:r>
            <a:endParaRPr lang="ru-RU" dirty="0"/>
          </a:p>
        </p:txBody>
      </p:sp>
      <p:sp>
        <p:nvSpPr>
          <p:cNvPr id="12" name="TextBox 11"/>
          <p:cNvSpPr txBox="1"/>
          <p:nvPr/>
        </p:nvSpPr>
        <p:spPr>
          <a:xfrm>
            <a:off x="3144052" y="5449831"/>
            <a:ext cx="2448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Zero padding, no stride</a:t>
            </a:r>
            <a:endParaRPr lang="ru-RU" dirty="0"/>
          </a:p>
        </p:txBody>
      </p:sp>
      <p:sp>
        <p:nvSpPr>
          <p:cNvPr id="13" name="TextBox 12"/>
          <p:cNvSpPr txBox="1"/>
          <p:nvPr/>
        </p:nvSpPr>
        <p:spPr>
          <a:xfrm>
            <a:off x="6153047" y="4718560"/>
            <a:ext cx="132856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No padding</a:t>
            </a:r>
            <a:r>
              <a:rPr lang="ru-RU" dirty="0"/>
              <a:t>,</a:t>
            </a:r>
          </a:p>
          <a:p>
            <a:r>
              <a:rPr lang="en-US" dirty="0"/>
              <a:t>stride</a:t>
            </a:r>
            <a:r>
              <a:rPr lang="ru-RU" dirty="0"/>
              <a:t> = 2</a:t>
            </a:r>
          </a:p>
        </p:txBody>
      </p:sp>
      <p:pic>
        <p:nvPicPr>
          <p:cNvPr id="14" name="Рисунок 1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25555" y="1569089"/>
            <a:ext cx="3092294" cy="298269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9053650" y="4718559"/>
            <a:ext cx="2864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No padding, no stride</a:t>
            </a:r>
            <a:r>
              <a:rPr lang="ru-RU" dirty="0"/>
              <a:t>, </a:t>
            </a:r>
            <a:r>
              <a:rPr lang="en-US" dirty="0"/>
              <a:t>dilation = 2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064313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Convolution visualization</a:t>
            </a:r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6093" y="1590675"/>
            <a:ext cx="2719477" cy="305150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1291" y="5267325"/>
            <a:ext cx="241816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Convolution transposed</a:t>
            </a:r>
          </a:p>
          <a:p>
            <a:r>
              <a:rPr lang="en-US" dirty="0"/>
              <a:t>No padding, no stride</a:t>
            </a:r>
            <a:endParaRPr lang="ru-RU" dirty="0"/>
          </a:p>
        </p:txBody>
      </p:sp>
      <p:sp>
        <p:nvSpPr>
          <p:cNvPr id="8" name="TextBox 7"/>
          <p:cNvSpPr txBox="1"/>
          <p:nvPr/>
        </p:nvSpPr>
        <p:spPr>
          <a:xfrm>
            <a:off x="5899031" y="5267325"/>
            <a:ext cx="241816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Convolution transposed</a:t>
            </a:r>
          </a:p>
          <a:p>
            <a:r>
              <a:rPr lang="en-US" dirty="0"/>
              <a:t>No padding, stride = 2</a:t>
            </a:r>
            <a:endParaRPr lang="ru-RU" dirty="0"/>
          </a:p>
        </p:txBody>
      </p:sp>
      <p:pic>
        <p:nvPicPr>
          <p:cNvPr id="9" name="Рисунок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99031" y="1590675"/>
            <a:ext cx="3247037" cy="3690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56500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Pooling operation</a:t>
            </a:r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4242" y="1690688"/>
            <a:ext cx="6693315" cy="4773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72917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AlexNet</a:t>
            </a:r>
            <a:r>
              <a:rPr lang="en-US" dirty="0"/>
              <a:t> network (2012)</a:t>
            </a:r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5549" y="1536460"/>
            <a:ext cx="7920901" cy="2387600"/>
          </a:xfrm>
          <a:prstGeom prst="rect">
            <a:avLst/>
          </a:prstGeom>
        </p:spPr>
      </p:pic>
      <p:sp>
        <p:nvSpPr>
          <p:cNvPr id="5" name="Прямоугольник 4"/>
          <p:cNvSpPr/>
          <p:nvPr/>
        </p:nvSpPr>
        <p:spPr>
          <a:xfrm>
            <a:off x="838200" y="4155396"/>
            <a:ext cx="6096000" cy="2308324"/>
          </a:xfrm>
          <a:prstGeom prst="rect">
            <a:avLst/>
          </a:prstGeom>
        </p:spPr>
        <p:txBody>
          <a:bodyPr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 err="1"/>
              <a:t>Max</a:t>
            </a:r>
            <a:r>
              <a:rPr lang="ru-RU" dirty="0"/>
              <a:t> </a:t>
            </a:r>
            <a:r>
              <a:rPr lang="ru-RU" dirty="0" err="1"/>
              <a:t>pooling</a:t>
            </a:r>
            <a:endParaRPr lang="ru-RU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 err="1"/>
              <a:t>ReLu</a:t>
            </a:r>
            <a:r>
              <a:rPr lang="ru-RU" dirty="0"/>
              <a:t> </a:t>
            </a:r>
            <a:r>
              <a:rPr lang="ru-RU" dirty="0" err="1"/>
              <a:t>nonlinearity</a:t>
            </a:r>
            <a:endParaRPr lang="ru-RU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 err="1"/>
              <a:t>Fully</a:t>
            </a:r>
            <a:r>
              <a:rPr lang="ru-RU" dirty="0"/>
              <a:t> </a:t>
            </a:r>
            <a:r>
              <a:rPr lang="ru-RU" dirty="0" err="1"/>
              <a:t>connected</a:t>
            </a:r>
            <a:r>
              <a:rPr lang="ru-RU" dirty="0"/>
              <a:t> </a:t>
            </a:r>
            <a:r>
              <a:rPr lang="ru-RU" dirty="0" err="1"/>
              <a:t>layers</a:t>
            </a:r>
            <a:endParaRPr lang="ru-RU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 err="1"/>
              <a:t>More</a:t>
            </a:r>
            <a:r>
              <a:rPr lang="ru-RU" dirty="0"/>
              <a:t> </a:t>
            </a:r>
            <a:r>
              <a:rPr lang="ru-RU" dirty="0" err="1"/>
              <a:t>data</a:t>
            </a:r>
            <a:r>
              <a:rPr lang="ru-RU" dirty="0"/>
              <a:t> </a:t>
            </a:r>
            <a:r>
              <a:rPr lang="ru-RU" dirty="0" err="1"/>
              <a:t>and</a:t>
            </a:r>
            <a:r>
              <a:rPr lang="ru-RU" dirty="0"/>
              <a:t> </a:t>
            </a:r>
            <a:r>
              <a:rPr lang="ru-RU" dirty="0" err="1"/>
              <a:t>bigger</a:t>
            </a:r>
            <a:r>
              <a:rPr lang="ru-RU" dirty="0"/>
              <a:t> </a:t>
            </a:r>
            <a:r>
              <a:rPr lang="ru-RU" dirty="0" err="1"/>
              <a:t>model</a:t>
            </a:r>
            <a:r>
              <a:rPr lang="ru-RU" dirty="0"/>
              <a:t> (60M </a:t>
            </a:r>
            <a:r>
              <a:rPr lang="ru-RU" dirty="0" err="1"/>
              <a:t>params</a:t>
            </a:r>
            <a:r>
              <a:rPr lang="ru-RU" dirty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+ </a:t>
            </a:r>
            <a:r>
              <a:rPr lang="ru-RU" dirty="0" err="1"/>
              <a:t>Data</a:t>
            </a:r>
            <a:r>
              <a:rPr lang="ru-RU" dirty="0"/>
              <a:t> </a:t>
            </a:r>
            <a:r>
              <a:rPr lang="ru-RU" dirty="0" err="1"/>
              <a:t>augmentation</a:t>
            </a:r>
            <a:r>
              <a:rPr lang="ru-RU" dirty="0"/>
              <a:t> (</a:t>
            </a:r>
            <a:r>
              <a:rPr lang="ru-RU" dirty="0" err="1"/>
              <a:t>flips</a:t>
            </a:r>
            <a:r>
              <a:rPr lang="ru-RU" dirty="0"/>
              <a:t> </a:t>
            </a:r>
            <a:r>
              <a:rPr lang="ru-RU" dirty="0" err="1"/>
              <a:t>and</a:t>
            </a:r>
            <a:r>
              <a:rPr lang="ru-RU" dirty="0"/>
              <a:t> </a:t>
            </a:r>
            <a:r>
              <a:rPr lang="ru-RU" dirty="0" err="1"/>
              <a:t>random</a:t>
            </a:r>
            <a:r>
              <a:rPr lang="ru-RU" dirty="0"/>
              <a:t> </a:t>
            </a:r>
            <a:r>
              <a:rPr lang="ru-RU" dirty="0" err="1"/>
              <a:t>samples</a:t>
            </a:r>
            <a:r>
              <a:rPr lang="ru-RU" dirty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+ </a:t>
            </a:r>
            <a:r>
              <a:rPr lang="ru-RU" dirty="0" err="1"/>
              <a:t>Dropout</a:t>
            </a:r>
            <a:r>
              <a:rPr lang="ru-RU" dirty="0"/>
              <a:t> </a:t>
            </a:r>
            <a:r>
              <a:rPr lang="ru-RU" dirty="0" err="1"/>
              <a:t>regularization</a:t>
            </a:r>
            <a:endParaRPr lang="ru-RU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+ </a:t>
            </a:r>
            <a:r>
              <a:rPr lang="ru-RU" dirty="0" err="1"/>
              <a:t>GPUs</a:t>
            </a:r>
            <a:r>
              <a:rPr lang="ru-RU" dirty="0"/>
              <a:t> (50x </a:t>
            </a:r>
            <a:r>
              <a:rPr lang="ru-RU" dirty="0" err="1"/>
              <a:t>speed</a:t>
            </a:r>
            <a:r>
              <a:rPr lang="ru-RU" dirty="0"/>
              <a:t> </a:t>
            </a:r>
            <a:r>
              <a:rPr lang="ru-RU" dirty="0" err="1"/>
              <a:t>up</a:t>
            </a:r>
            <a:r>
              <a:rPr lang="ru-RU" dirty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+ 1 </a:t>
            </a:r>
            <a:r>
              <a:rPr lang="ru-RU" dirty="0" err="1"/>
              <a:t>week</a:t>
            </a:r>
            <a:r>
              <a:rPr lang="ru-RU" dirty="0"/>
              <a:t> </a:t>
            </a:r>
            <a:r>
              <a:rPr lang="ru-RU" dirty="0" err="1"/>
              <a:t>of</a:t>
            </a:r>
            <a:r>
              <a:rPr lang="ru-RU" dirty="0"/>
              <a:t> </a:t>
            </a:r>
            <a:r>
              <a:rPr lang="ru-RU" dirty="0" err="1"/>
              <a:t>training</a:t>
            </a:r>
            <a:r>
              <a:rPr lang="ru-RU" dirty="0"/>
              <a:t> </a:t>
            </a:r>
            <a:r>
              <a:rPr lang="ru-RU" dirty="0" err="1"/>
              <a:t>on</a:t>
            </a:r>
            <a:r>
              <a:rPr lang="ru-RU" dirty="0"/>
              <a:t> 2 </a:t>
            </a:r>
            <a:r>
              <a:rPr lang="ru-RU" dirty="0" err="1"/>
              <a:t>GPUs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898518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augmentation</a:t>
            </a:r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3389" y="1882834"/>
            <a:ext cx="8413197" cy="42591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87985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VGG network (2014)</a:t>
            </a:r>
            <a:endParaRPr lang="ru-RU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7971531" y="2001175"/>
            <a:ext cx="3299334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Cascade of 3x3 </a:t>
            </a:r>
            <a:r>
              <a:rPr lang="en-US" dirty="0" err="1"/>
              <a:t>convs</a:t>
            </a:r>
            <a:r>
              <a:rPr lang="en-US" dirty="0"/>
              <a:t> instead of big </a:t>
            </a:r>
            <a:r>
              <a:rPr lang="en-US" dirty="0" err="1"/>
              <a:t>convs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140M </a:t>
            </a:r>
            <a:r>
              <a:rPr lang="en-US" dirty="0"/>
              <a:t>parameters</a:t>
            </a:r>
            <a:r>
              <a:rPr lang="ru-RU" dirty="0"/>
              <a:t> (</a:t>
            </a:r>
            <a:r>
              <a:rPr lang="ru-RU" dirty="0" err="1"/>
              <a:t>AlexNet</a:t>
            </a:r>
            <a:r>
              <a:rPr lang="en-US" dirty="0"/>
              <a:t> has</a:t>
            </a:r>
            <a:r>
              <a:rPr lang="ru-RU" dirty="0"/>
              <a:t> 60M)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More balanced computations</a:t>
            </a:r>
            <a:endParaRPr lang="ru-RU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Can’t be trained from scratch</a:t>
            </a:r>
            <a:r>
              <a:rPr lang="ru-RU" dirty="0"/>
              <a:t> (</a:t>
            </a:r>
            <a:r>
              <a:rPr lang="en-US" dirty="0"/>
              <a:t>gradient vanishes</a:t>
            </a:r>
            <a:r>
              <a:rPr lang="ru-RU" dirty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Several training stages for different depths</a:t>
            </a:r>
            <a:endParaRPr lang="ru-RU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Training on</a:t>
            </a:r>
            <a:r>
              <a:rPr lang="ru-RU" dirty="0"/>
              <a:t> 4 Titan Black </a:t>
            </a:r>
            <a:r>
              <a:rPr lang="ru-RU" dirty="0" err="1"/>
              <a:t>GPUs</a:t>
            </a:r>
            <a:r>
              <a:rPr lang="ru-RU" dirty="0"/>
              <a:t> </a:t>
            </a:r>
            <a:r>
              <a:rPr lang="en-US" dirty="0"/>
              <a:t>for </a:t>
            </a:r>
            <a:r>
              <a:rPr lang="ru-RU" dirty="0"/>
              <a:t>2-3 </a:t>
            </a:r>
            <a:r>
              <a:rPr lang="en-US" dirty="0"/>
              <a:t>weeks</a:t>
            </a:r>
            <a:endParaRPr lang="ru-RU" dirty="0"/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295" y="1693481"/>
            <a:ext cx="7505119" cy="46331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59856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ResNet</a:t>
            </a:r>
            <a:r>
              <a:rPr lang="en-US" dirty="0"/>
              <a:t> network (2015)</a:t>
            </a:r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3183" y="1115322"/>
            <a:ext cx="2538750" cy="5524501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7480" y="1589057"/>
            <a:ext cx="2995725" cy="1333500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3604" y="3479739"/>
            <a:ext cx="3249601" cy="133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30158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ResNet</a:t>
            </a:r>
            <a:r>
              <a:rPr lang="en-US" dirty="0"/>
              <a:t> network (2015)</a:t>
            </a:r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904" y="2363877"/>
            <a:ext cx="4011226" cy="2768600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93183" y="1115322"/>
            <a:ext cx="2538750" cy="5524501"/>
          </a:xfrm>
          <a:prstGeom prst="rect">
            <a:avLst/>
          </a:prstGeom>
        </p:spPr>
      </p:pic>
      <p:sp>
        <p:nvSpPr>
          <p:cNvPr id="6" name="Прямоугольник 5"/>
          <p:cNvSpPr/>
          <p:nvPr/>
        </p:nvSpPr>
        <p:spPr>
          <a:xfrm>
            <a:off x="838200" y="1775209"/>
            <a:ext cx="311040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Just adding layers doesn’t work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817677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ResNet</a:t>
            </a:r>
            <a:r>
              <a:rPr lang="en-US" dirty="0"/>
              <a:t> network (2015)</a:t>
            </a:r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3183" y="1115322"/>
            <a:ext cx="2538750" cy="5524501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0889" y="3091012"/>
            <a:ext cx="4265101" cy="2349500"/>
          </a:xfrm>
          <a:prstGeom prst="rect">
            <a:avLst/>
          </a:prstGeom>
        </p:spPr>
      </p:pic>
      <p:sp>
        <p:nvSpPr>
          <p:cNvPr id="6" name="Прямоугольник 5"/>
          <p:cNvSpPr/>
          <p:nvPr/>
        </p:nvSpPr>
        <p:spPr>
          <a:xfrm>
            <a:off x="858436" y="1690688"/>
            <a:ext cx="813474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•</a:t>
            </a:r>
            <a:r>
              <a:rPr lang="en-US" dirty="0"/>
              <a:t> The main idea – residual block</a:t>
            </a:r>
            <a:r>
              <a:rPr lang="ru-RU" dirty="0"/>
              <a:t> </a:t>
            </a:r>
            <a:r>
              <a:rPr lang="en-US" dirty="0"/>
              <a:t>= adding identity connection</a:t>
            </a:r>
            <a:endParaRPr lang="ru-RU" dirty="0"/>
          </a:p>
          <a:p>
            <a:r>
              <a:rPr lang="ru-RU" dirty="0"/>
              <a:t>•</a:t>
            </a:r>
            <a:r>
              <a:rPr lang="en-US" dirty="0"/>
              <a:t> Allows better propagate gradients inside</a:t>
            </a:r>
            <a:endParaRPr lang="ru-RU" dirty="0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0244" y="2700947"/>
            <a:ext cx="1778286" cy="3739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270293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ResNet</a:t>
            </a:r>
            <a:r>
              <a:rPr lang="en-US" dirty="0"/>
              <a:t> network (2015)</a:t>
            </a:r>
            <a:endParaRPr lang="ru-RU" dirty="0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8725" y="1870741"/>
            <a:ext cx="9734550" cy="4248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7185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Inception network (2014-2016)</a:t>
            </a:r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508" y="2260188"/>
            <a:ext cx="6059936" cy="3362614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69444" y="1931467"/>
            <a:ext cx="5894578" cy="3710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54687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Inception network (2014-2016)</a:t>
            </a:r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567" y="2096553"/>
            <a:ext cx="4398286" cy="4019260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18032" y="1424924"/>
            <a:ext cx="4554687" cy="5422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926110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928230" cy="1325563"/>
          </a:xfrm>
        </p:spPr>
        <p:txBody>
          <a:bodyPr/>
          <a:lstStyle/>
          <a:p>
            <a:r>
              <a:rPr lang="en-US" dirty="0"/>
              <a:t>Transfer learning in</a:t>
            </a:r>
            <a:r>
              <a:rPr lang="ru-RU" dirty="0"/>
              <a:t> </a:t>
            </a:r>
            <a:r>
              <a:rPr lang="en-US" dirty="0"/>
              <a:t>CNN [</a:t>
            </a:r>
            <a:r>
              <a:rPr lang="en-US" dirty="0" err="1"/>
              <a:t>Oquab</a:t>
            </a:r>
            <a:r>
              <a:rPr lang="en-US" dirty="0"/>
              <a:t> et al., 2014]</a:t>
            </a:r>
            <a:endParaRPr lang="ru-RU" dirty="0"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6046" y="2052996"/>
            <a:ext cx="8834851" cy="4000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657917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D2AB968-2682-3804-D10D-688F92CD86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Optimization with SGD</a:t>
            </a:r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9717D07E-9B66-6CB4-578C-312570EA90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81" y="2374084"/>
            <a:ext cx="4299291" cy="286619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5CD779F-8B31-8946-8934-69896C4BCD54}"/>
              </a:ext>
            </a:extLst>
          </p:cNvPr>
          <p:cNvSpPr txBox="1"/>
          <p:nvPr/>
        </p:nvSpPr>
        <p:spPr>
          <a:xfrm>
            <a:off x="837282" y="2229113"/>
            <a:ext cx="28685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Full GD with proper step size</a:t>
            </a:r>
            <a:endParaRPr lang="ru-RU"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C2E2FB36-3077-D2F3-2A9C-F881BF36D8B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27099" y="2371134"/>
            <a:ext cx="4299291" cy="286619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BF56EAF-A6A1-2006-8683-DD1D05BF6900}"/>
              </a:ext>
            </a:extLst>
          </p:cNvPr>
          <p:cNvSpPr txBox="1"/>
          <p:nvPr/>
        </p:nvSpPr>
        <p:spPr>
          <a:xfrm>
            <a:off x="5036273" y="2241949"/>
            <a:ext cx="20809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SGD with little noise</a:t>
            </a:r>
            <a:endParaRPr lang="ru-RU" dirty="0"/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87BA9E16-4043-349C-783E-F81014FB86C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22128" y="2368184"/>
            <a:ext cx="4299290" cy="2866193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439A40E7-EC91-0CBF-093D-FE40A8202ECA}"/>
              </a:ext>
            </a:extLst>
          </p:cNvPr>
          <p:cNvSpPr txBox="1"/>
          <p:nvPr/>
        </p:nvSpPr>
        <p:spPr>
          <a:xfrm>
            <a:off x="8872080" y="2263193"/>
            <a:ext cx="21993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SGD with larger noise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196856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280</Words>
  <Application>Microsoft Office PowerPoint</Application>
  <PresentationFormat>Широкоэкранный</PresentationFormat>
  <Paragraphs>69</Paragraphs>
  <Slides>19</Slides>
  <Notes>3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19</vt:i4>
      </vt:variant>
    </vt:vector>
  </HeadingPairs>
  <TitlesOfParts>
    <vt:vector size="23" baseType="lpstr">
      <vt:lpstr>Arial</vt:lpstr>
      <vt:lpstr>Calibri</vt:lpstr>
      <vt:lpstr>Calibri Light</vt:lpstr>
      <vt:lpstr>Тема Office</vt:lpstr>
      <vt:lpstr>Convolutional neural networks</vt:lpstr>
      <vt:lpstr>ImageNet (image-net.org)</vt:lpstr>
      <vt:lpstr>Презентация PowerPoint</vt:lpstr>
      <vt:lpstr>Sobel filter</vt:lpstr>
      <vt:lpstr>LeNet network [LeCun et al., 1998]</vt:lpstr>
      <vt:lpstr>Convolution visualization</vt:lpstr>
      <vt:lpstr>Convolution visualization</vt:lpstr>
      <vt:lpstr>Pooling operation</vt:lpstr>
      <vt:lpstr>AlexNet network (2012)</vt:lpstr>
      <vt:lpstr>Data augmentation</vt:lpstr>
      <vt:lpstr>VGG network (2014)</vt:lpstr>
      <vt:lpstr>ResNet network (2015)</vt:lpstr>
      <vt:lpstr>ResNet network (2015)</vt:lpstr>
      <vt:lpstr>ResNet network (2015)</vt:lpstr>
      <vt:lpstr>ResNet network (2015)</vt:lpstr>
      <vt:lpstr>Inception network (2014-2016)</vt:lpstr>
      <vt:lpstr>Inception network (2014-2016)</vt:lpstr>
      <vt:lpstr>Transfer learning in CNN [Oquab et al., 2014]</vt:lpstr>
      <vt:lpstr>Optimization with SGD</vt:lpstr>
    </vt:vector>
  </TitlesOfParts>
  <Company>diakov.net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Deep Learning</dc:title>
  <dc:creator>Николаева</dc:creator>
  <cp:lastModifiedBy>Kropotov Dmitry</cp:lastModifiedBy>
  <cp:revision>58</cp:revision>
  <dcterms:created xsi:type="dcterms:W3CDTF">2016-07-15T17:21:31Z</dcterms:created>
  <dcterms:modified xsi:type="dcterms:W3CDTF">2025-09-17T09:02:20Z</dcterms:modified>
</cp:coreProperties>
</file>