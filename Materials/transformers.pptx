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7" r:id="rId9"/>
    <p:sldId id="262" r:id="rId10"/>
    <p:sldId id="263" r:id="rId11"/>
    <p:sldId id="265" r:id="rId12"/>
    <p:sldId id="266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34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28.10.2026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Transformer models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ru-RU" dirty="0"/>
          </a:p>
          <a:p>
            <a:r>
              <a:rPr lang="en-US" dirty="0"/>
              <a:t>Deep learning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702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8A7905-2F43-56A1-D649-FB85BCEDB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for machine translation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AFE7504-DB6F-6BBC-3FE5-A68E2CC10A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858" y="1348761"/>
            <a:ext cx="3781376" cy="5408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44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49DBE-6B8A-68EC-88E1-A7B766DE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visualization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3CDF11-0A24-02AD-03F6-71BC8FF68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03" y="1824544"/>
            <a:ext cx="8837977" cy="4638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67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5E4D0-7432-B2C1-9308-17F92882C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 (Bidirectional Encoder Representation from Transformers, 2018)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85AFE-F726-104E-D32D-B4D9A61687B2}"/>
              </a:ext>
            </a:extLst>
          </p:cNvPr>
          <p:cNvSpPr txBox="1"/>
          <p:nvPr/>
        </p:nvSpPr>
        <p:spPr>
          <a:xfrm>
            <a:off x="838200" y="1857851"/>
            <a:ext cx="54898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Using only Transformer encoder</a:t>
            </a:r>
          </a:p>
          <a:p>
            <a:pPr marL="342900" indent="-342900">
              <a:buAutoNum type="arabicPeriod"/>
            </a:pPr>
            <a:r>
              <a:rPr lang="en-US" dirty="0"/>
              <a:t>Masked Language Model pretraining</a:t>
            </a:r>
          </a:p>
          <a:p>
            <a:pPr marL="342900" indent="-342900">
              <a:buAutoNum type="arabicPeriod"/>
            </a:pPr>
            <a:r>
              <a:rPr lang="en-US" dirty="0"/>
              <a:t>Next Sentence Prediction for training CLS embedding</a:t>
            </a:r>
          </a:p>
          <a:p>
            <a:pPr marL="342900" indent="-342900">
              <a:buAutoNum type="arabicPeriod"/>
            </a:pPr>
            <a:r>
              <a:rPr lang="en-US" dirty="0"/>
              <a:t>Fine-tuning for downstream tasks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A37549-2914-9151-E192-AF9E61B76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651" y="3299309"/>
            <a:ext cx="8479332" cy="3491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44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B43557-BBB0-7E85-3397-3BA4A14F3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RoBERTa</a:t>
            </a:r>
            <a:r>
              <a:rPr lang="en-US" dirty="0"/>
              <a:t> (2019)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E81A427-DF11-9102-9846-309F96346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836" y="2816642"/>
            <a:ext cx="7384266" cy="36308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A662DC-7B33-10A6-14AA-380F8655ED55}"/>
              </a:ext>
            </a:extLst>
          </p:cNvPr>
          <p:cNvSpPr txBox="1"/>
          <p:nvPr/>
        </p:nvSpPr>
        <p:spPr>
          <a:xfrm>
            <a:off x="839749" y="1581806"/>
            <a:ext cx="6873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Next Sentence Prediction is not used, only Masked Language Model</a:t>
            </a:r>
          </a:p>
          <a:p>
            <a:pPr marL="342900" indent="-342900">
              <a:buAutoNum type="arabicPeriod"/>
            </a:pPr>
            <a:r>
              <a:rPr lang="en-US" dirty="0"/>
              <a:t>Randomly sampled masks</a:t>
            </a:r>
          </a:p>
          <a:p>
            <a:pPr marL="342900" indent="-342900">
              <a:buAutoNum type="arabicPeriod"/>
            </a:pPr>
            <a:r>
              <a:rPr lang="en-US" dirty="0"/>
              <a:t>Much larger training dataset</a:t>
            </a:r>
          </a:p>
        </p:txBody>
      </p:sp>
    </p:spTree>
    <p:extLst>
      <p:ext uri="{BB962C8B-B14F-4D97-AF65-F5344CB8AC3E}">
        <p14:creationId xmlns:p14="http://schemas.microsoft.com/office/powerpoint/2010/main" val="309296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49B4D-4B63-63F2-878E-3DF2FA494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4B6ECB-1C6C-BF9B-1313-10D9AD6F3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ModernBERT</a:t>
            </a:r>
            <a:r>
              <a:rPr lang="en-US" dirty="0"/>
              <a:t> (2024)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330A0D-5066-FD27-B4C8-8C1E89657CEE}"/>
              </a:ext>
            </a:extLst>
          </p:cNvPr>
          <p:cNvSpPr txBox="1"/>
          <p:nvPr/>
        </p:nvSpPr>
        <p:spPr>
          <a:xfrm>
            <a:off x="839749" y="1581805"/>
            <a:ext cx="107095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Modern transformer architecture: </a:t>
            </a:r>
            <a:r>
              <a:rPr lang="en-US" sz="2400" dirty="0" err="1"/>
              <a:t>RMSNorm</a:t>
            </a:r>
            <a:r>
              <a:rPr lang="en-US" sz="2400" dirty="0"/>
              <a:t>, Gated FFN, </a:t>
            </a:r>
            <a:r>
              <a:rPr lang="en-US" sz="2400" dirty="0" err="1"/>
              <a:t>RoPE</a:t>
            </a:r>
            <a:endParaRPr lang="en-US" sz="2400" dirty="0"/>
          </a:p>
          <a:p>
            <a:pPr marL="342900" indent="-342900">
              <a:buAutoNum type="arabicPeriod"/>
            </a:pPr>
            <a:r>
              <a:rPr lang="en-US" sz="2400" dirty="0"/>
              <a:t>Training: Masked Language Model</a:t>
            </a:r>
          </a:p>
          <a:p>
            <a:pPr marL="342900" indent="-342900">
              <a:buAutoNum type="arabicPeriod"/>
            </a:pPr>
            <a:r>
              <a:rPr lang="en-US" sz="2400" dirty="0"/>
              <a:t>Local-Global interleaving self-attention: two layers with local attention (window size </a:t>
            </a:r>
            <a:r>
              <a:rPr lang="ru-RU" sz="2400" dirty="0"/>
              <a:t>128) </a:t>
            </a:r>
            <a:r>
              <a:rPr lang="en-US" sz="2400" dirty="0"/>
              <a:t>and one layer with global attention</a:t>
            </a:r>
            <a:endParaRPr lang="ru-RU" sz="2400" dirty="0"/>
          </a:p>
          <a:p>
            <a:pPr marL="342900" indent="-342900">
              <a:buAutoNum type="arabicPeriod"/>
            </a:pPr>
            <a:r>
              <a:rPr lang="en-US" sz="2400" dirty="0" err="1"/>
              <a:t>RoPE</a:t>
            </a:r>
            <a:r>
              <a:rPr lang="en-US" sz="2400" dirty="0"/>
              <a:t>: for local attention theta=10000, for global attention theta=160000</a:t>
            </a:r>
          </a:p>
          <a:p>
            <a:pPr marL="342900" indent="-342900">
              <a:buAutoNum type="arabicPeriod"/>
            </a:pPr>
            <a:r>
              <a:rPr lang="en-US" sz="2400" dirty="0"/>
              <a:t>Two-staged training: 1) contexts of length 1024, then 2) contexts of length 8192</a:t>
            </a:r>
          </a:p>
        </p:txBody>
      </p:sp>
    </p:spTree>
    <p:extLst>
      <p:ext uri="{BB962C8B-B14F-4D97-AF65-F5344CB8AC3E}">
        <p14:creationId xmlns:p14="http://schemas.microsoft.com/office/powerpoint/2010/main" val="1491473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5034C-DFAA-D8EC-CCCC-8F6D0124E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GPT-1 (Generative Pretraining from Transformers)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1795EF-5F68-8271-2438-C0F6258A4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3336" y="3608529"/>
            <a:ext cx="7305290" cy="31004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47248E-5CE4-95E0-5D96-D376A9656ADE}"/>
              </a:ext>
            </a:extLst>
          </p:cNvPr>
          <p:cNvSpPr txBox="1"/>
          <p:nvPr/>
        </p:nvSpPr>
        <p:spPr>
          <a:xfrm>
            <a:off x="838200" y="1797471"/>
            <a:ext cx="6505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Using only Transformer decoder</a:t>
            </a:r>
            <a:r>
              <a:rPr lang="ru-RU" dirty="0"/>
              <a:t> (</a:t>
            </a:r>
            <a:r>
              <a:rPr lang="en-US" dirty="0"/>
              <a:t>without cross-attention parts) </a:t>
            </a:r>
          </a:p>
          <a:p>
            <a:pPr marL="342900" indent="-342900">
              <a:buAutoNum type="arabicPeriod"/>
            </a:pPr>
            <a:r>
              <a:rPr lang="en-US" dirty="0"/>
              <a:t>Unsupervised pretraining using next token prediction</a:t>
            </a:r>
          </a:p>
          <a:p>
            <a:pPr marL="342900" indent="-342900">
              <a:buAutoNum type="arabicPeriod"/>
            </a:pPr>
            <a:r>
              <a:rPr lang="en-US" dirty="0"/>
              <a:t>Fine-tuning for supervised tasks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7C4F5AF-F3FD-5C4D-8CBE-9CA15EB76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485" y="1814725"/>
            <a:ext cx="3598315" cy="5265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EE5D67-9A03-F791-52DD-1A8D5CC5503C}"/>
              </a:ext>
            </a:extLst>
          </p:cNvPr>
          <p:cNvSpPr txBox="1"/>
          <p:nvPr/>
        </p:nvSpPr>
        <p:spPr>
          <a:xfrm>
            <a:off x="838200" y="3049616"/>
            <a:ext cx="487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Observation: fine-tuning requires only few epochs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680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B1330-4AF2-A4CC-2E66-1A8935466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GPT-like vs. BERT-like models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E1CB77-CF9D-8DC7-FC6F-AE185E4CE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BERT-like models are better for token embeddings, since they look at both left and right context</a:t>
            </a:r>
          </a:p>
          <a:p>
            <a:r>
              <a:rPr lang="en-US" dirty="0"/>
              <a:t>GPT-like models are better for prompt answering, since they are trained in next-token-prediction fashion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4512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A143D0-6940-1194-DD7C-664655552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GPT-2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9289AC-289B-5C1C-8D05-6EE6984DA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474" y="3346833"/>
            <a:ext cx="10537174" cy="2021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26561C-9E80-C51E-B756-BED59B093AD9}"/>
              </a:ext>
            </a:extLst>
          </p:cNvPr>
          <p:cNvSpPr txBox="1"/>
          <p:nvPr/>
        </p:nvSpPr>
        <p:spPr>
          <a:xfrm>
            <a:off x="961474" y="1771048"/>
            <a:ext cx="455163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Increased sizes of model and dataset</a:t>
            </a:r>
          </a:p>
          <a:p>
            <a:pPr marL="342900" indent="-342900">
              <a:buAutoNum type="arabicPeriod"/>
            </a:pPr>
            <a:r>
              <a:rPr lang="en-US" dirty="0"/>
              <a:t>Fully unsupervised training</a:t>
            </a:r>
          </a:p>
          <a:p>
            <a:pPr marL="342900" indent="-342900">
              <a:buAutoNum type="arabicPeriod"/>
            </a:pPr>
            <a:r>
              <a:rPr lang="en-US" dirty="0"/>
              <a:t>Shows not that bad zero-shot performance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4069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0608A0-FCD9-11C7-DF43-C3C0A9E4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GPT-3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142813-AF40-061A-4755-C3489DF22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600" y="2564998"/>
            <a:ext cx="7337035" cy="39952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C26BBE-8D50-7A21-3A25-04A3F49E7227}"/>
              </a:ext>
            </a:extLst>
          </p:cNvPr>
          <p:cNvSpPr txBox="1"/>
          <p:nvPr/>
        </p:nvSpPr>
        <p:spPr>
          <a:xfrm>
            <a:off x="838200" y="1493991"/>
            <a:ext cx="515000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Significantly increased sizes of model and dataset</a:t>
            </a:r>
          </a:p>
          <a:p>
            <a:pPr marL="342900" indent="-342900">
              <a:buAutoNum type="arabicPeriod"/>
            </a:pPr>
            <a:r>
              <a:rPr lang="en-US" dirty="0"/>
              <a:t>Fully unsupervised training</a:t>
            </a:r>
          </a:p>
          <a:p>
            <a:pPr marL="342900" indent="-342900">
              <a:buAutoNum type="arabicPeriod"/>
            </a:pPr>
            <a:r>
              <a:rPr lang="en-US" dirty="0"/>
              <a:t>Shows much better zero-shot performance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1451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5E0154-225E-D6F8-32EC-E91A5B2AD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training pipeline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85A92-898E-0623-61B1-53E5E1D26FF6}"/>
              </a:ext>
            </a:extLst>
          </p:cNvPr>
          <p:cNvSpPr txBox="1"/>
          <p:nvPr/>
        </p:nvSpPr>
        <p:spPr>
          <a:xfrm>
            <a:off x="838200" y="1602082"/>
            <a:ext cx="1068125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Stage 1.</a:t>
            </a:r>
            <a:r>
              <a:rPr lang="en-US" sz="2800" dirty="0"/>
              <a:t> Pretraining using Next-token prediction</a:t>
            </a:r>
            <a:br>
              <a:rPr lang="en-US" sz="2800" dirty="0"/>
            </a:br>
            <a:endParaRPr lang="en-US" sz="2800" dirty="0"/>
          </a:p>
          <a:p>
            <a:r>
              <a:rPr lang="en-US" sz="2800" b="1" dirty="0"/>
              <a:t>Stage 2.</a:t>
            </a:r>
            <a:r>
              <a:rPr lang="en-US" sz="2800" dirty="0"/>
              <a:t> Learning instruction following by SFT – Supervised Fine-Tuning on golden dataset with prompts and good answers</a:t>
            </a:r>
            <a:br>
              <a:rPr lang="en-US" sz="2800" dirty="0"/>
            </a:br>
            <a:endParaRPr lang="en-US" sz="2800" dirty="0"/>
          </a:p>
          <a:p>
            <a:r>
              <a:rPr lang="en-US" sz="2800" b="1" dirty="0"/>
              <a:t>Stage 3.</a:t>
            </a:r>
            <a:r>
              <a:rPr lang="en-US" sz="2800" dirty="0"/>
              <a:t> Learning polite answering using DPO (Direct Policy Optimization) with preference data</a:t>
            </a:r>
            <a:br>
              <a:rPr lang="en-US" sz="2800" dirty="0"/>
            </a:br>
            <a:endParaRPr lang="en-US" sz="2800" dirty="0"/>
          </a:p>
          <a:p>
            <a:r>
              <a:rPr lang="en-US" sz="2800" b="1" dirty="0"/>
              <a:t>Stage 4.</a:t>
            </a:r>
            <a:r>
              <a:rPr lang="en-US" sz="2800" dirty="0"/>
              <a:t> Learning complex problem solving using RLVR (Reinforcement Learning with Verifiable Rewards)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630293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ACE58-C780-E170-1885-074BA399A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Transformer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EAB63D8-082B-EE4D-05D9-15E8D0F31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845" y="2425364"/>
            <a:ext cx="7183548" cy="3744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DB8A46-107B-1B66-F26A-A755E3E50E86}"/>
              </a:ext>
            </a:extLst>
          </p:cNvPr>
          <p:cNvSpPr txBox="1"/>
          <p:nvPr/>
        </p:nvSpPr>
        <p:spPr>
          <a:xfrm>
            <a:off x="901143" y="1690688"/>
            <a:ext cx="666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Using similar unsupervised masked pretraining mechanism for images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56489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8FE0F1-A70C-964F-7D60-EFC9DAFBC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BERT/GPT models for images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56FDFC-FED9-1F75-CBEF-7070DD6AB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Vision Transformer – an analogue of BERT/</a:t>
            </a:r>
            <a:r>
              <a:rPr lang="en-US" dirty="0" err="1"/>
              <a:t>RoBERTa</a:t>
            </a:r>
            <a:r>
              <a:rPr lang="en-US" dirty="0"/>
              <a:t> models, allows finding good image representation and is used as alternative to convolutional encoders</a:t>
            </a:r>
          </a:p>
          <a:p>
            <a:r>
              <a:rPr lang="en-US" dirty="0" err="1"/>
              <a:t>ImageGPT</a:t>
            </a:r>
            <a:r>
              <a:rPr lang="en-US" dirty="0"/>
              <a:t> – an analogue of </a:t>
            </a:r>
            <a:r>
              <a:rPr lang="en-US" dirty="0" err="1"/>
              <a:t>InstructGPT</a:t>
            </a:r>
            <a:r>
              <a:rPr lang="en-US" dirty="0"/>
              <a:t>/ChatGPT models of image pixels, can be used for image generation, but in practice diffusion-based models like DALL-E, Stable Diffusion are usually used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73471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372</Words>
  <Application>Microsoft Office PowerPoint</Application>
  <PresentationFormat>Широкоэкранный</PresentationFormat>
  <Paragraphs>47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Transformer models</vt:lpstr>
      <vt:lpstr>Transformer for machine translation</vt:lpstr>
      <vt:lpstr>Attention visualization</vt:lpstr>
      <vt:lpstr>BERT (Bidirectional Encoder Representation from Transformers, 2018)</vt:lpstr>
      <vt:lpstr>RoBERTa (2019)</vt:lpstr>
      <vt:lpstr>ModernBERT (2024)</vt:lpstr>
      <vt:lpstr>GPT-1 (Generative Pretraining from Transformers)</vt:lpstr>
      <vt:lpstr>GPT-like vs. BERT-like models</vt:lpstr>
      <vt:lpstr>GPT-2</vt:lpstr>
      <vt:lpstr>GPT-3</vt:lpstr>
      <vt:lpstr>LLM training pipeline</vt:lpstr>
      <vt:lpstr>Vision Transformer</vt:lpstr>
      <vt:lpstr>BERT/GPT models for images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Dmitry Kropotov</cp:lastModifiedBy>
  <cp:revision>98</cp:revision>
  <dcterms:created xsi:type="dcterms:W3CDTF">2016-07-15T17:21:31Z</dcterms:created>
  <dcterms:modified xsi:type="dcterms:W3CDTF">2026-10-28T16:35:12Z</dcterms:modified>
</cp:coreProperties>
</file>